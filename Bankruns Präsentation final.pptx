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NyaoZBNDflmtgwzD41yUmusGr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3a5b72e04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f3a5b72e04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Char char="•"/>
            </a:pP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5-10 min what is the project about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Char char="•"/>
            </a:pP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10min what is the model (abstract, but percise) + show the program and the code (visualisierung mit blöcken)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Char char="•"/>
            </a:pP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present the model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Char char="•"/>
            </a:pP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preliminary results</a:t>
            </a:r>
            <a:b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~ 45min max 60min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524ac2e5a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524ac2e5a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3a5b72e04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f3a5b72e04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02abba1d_1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bank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Holds all deposits of agents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× % kept liquid as reserve ratio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(1-x) % locked in long-term assets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Solvency determined by banks behaviour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Collapses when liquidity &lt; withdrawals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signal &amp; agents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Exogenous noisy signal → Watchers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Watchers: receive external signal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Sleepers: only hear from neighbours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Insiders (20%): direct health access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Signals weighted by sender credibility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Withdrawal reduces bank liquidity</a:t>
            </a:r>
            <a:endParaRPr/>
          </a:p>
        </p:txBody>
      </p:sp>
      <p:sp>
        <p:nvSpPr>
          <p:cNvPr id="52" name="Google Shape;52;g3f502abba1d_1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02abba1d_1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f502abba1d_1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4db0dba76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4db0dba76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a580d02d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3a580d02d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a580d02d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3a580d02d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4db0dba7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relative Unterschreitung der liquiditätsquote</a:t>
            </a:r>
            <a:endParaRPr/>
          </a:p>
        </p:txBody>
      </p:sp>
      <p:sp>
        <p:nvSpPr>
          <p:cNvPr id="109" name="Google Shape;109;g3f4db0dba76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4db0dba76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MIAU</a:t>
            </a:r>
            <a:endParaRPr/>
          </a:p>
        </p:txBody>
      </p:sp>
      <p:sp>
        <p:nvSpPr>
          <p:cNvPr id="121" name="Google Shape;121;g3f4db0dba76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4db0dba76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4db0dba76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4db0dba76_0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rauschen als täglicher Liquiditäts</a:t>
            </a:r>
            <a:endParaRPr/>
          </a:p>
        </p:txBody>
      </p:sp>
      <p:sp>
        <p:nvSpPr>
          <p:cNvPr id="165" name="Google Shape;165;g3f4db0dba76_0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4db0dba76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4db0dba76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4db0dba76_0_1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relative Unterschreitung der liquiditätsquote</a:t>
            </a:r>
            <a:endParaRPr/>
          </a:p>
        </p:txBody>
      </p:sp>
      <p:sp>
        <p:nvSpPr>
          <p:cNvPr id="184" name="Google Shape;184;g3f4db0dba76_0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4db0dba76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4db0dba76_0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db0dba76_0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rauschen als täglicher Liquiditäts</a:t>
            </a:r>
            <a:endParaRPr/>
          </a:p>
        </p:txBody>
      </p:sp>
      <p:sp>
        <p:nvSpPr>
          <p:cNvPr id="203" name="Google Shape;203;g3f4db0dba76_0_1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4d625648f_1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4d625648f_1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4d625648f_1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4d625648f_1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4d625648f_1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4d625648f_1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4d625648f_1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4d625648f_1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4d625648f_1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4d625648f_1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4d625648f_1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4d625648f_1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4d625648f_1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4d625648f_1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4d625648f_1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4d625648f_1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24ac2e5a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524ac2e5a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i.org/10.1016/j.phpro.2010.07.010" TargetMode="External"/><Relationship Id="rId4" Type="http://schemas.openxmlformats.org/officeDocument/2006/relationships/hyperlink" Target="https://doi.org/10.1086/261155" TargetMode="External"/><Relationship Id="rId5" Type="http://schemas.openxmlformats.org/officeDocument/2006/relationships/hyperlink" Target="https://doi.org/10.1007/s11403-025-00452-4" TargetMode="External"/><Relationship Id="rId6" Type="http://schemas.openxmlformats.org/officeDocument/2006/relationships/hyperlink" Target="https://doi.org/10.1063/1.5022222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licon Valley Bank: Darum ist der Absturz gefährlich für Krypto" id="15" name="Google Shape;15;g3f3a5b72e04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9023" y="202048"/>
            <a:ext cx="5965950" cy="397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g3f3a5b72e04_0_25"/>
          <p:cNvSpPr txBox="1"/>
          <p:nvPr/>
        </p:nvSpPr>
        <p:spPr>
          <a:xfrm>
            <a:off x="4137975" y="4312200"/>
            <a:ext cx="341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https://www.btc-echo.de/news/silicon-valley-bank-darum-ist-der-absturz-gefaehrlich-fuer-krypto-160810/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548640" y="475487"/>
            <a:ext cx="8046719" cy="36578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594360" y="607452"/>
            <a:ext cx="7955279" cy="20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AGENT-BASED MODELING  ·  SS 2026</a:t>
            </a:r>
            <a:endParaRPr/>
          </a:p>
        </p:txBody>
      </p:sp>
      <p:sp>
        <p:nvSpPr>
          <p:cNvPr id="23" name="Google Shape;23;p2"/>
          <p:cNvSpPr txBox="1"/>
          <p:nvPr/>
        </p:nvSpPr>
        <p:spPr>
          <a:xfrm>
            <a:off x="594359" y="1151169"/>
            <a:ext cx="6309362" cy="2269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600"/>
              <a:buFont typeface="Arial"/>
              <a:buNone/>
            </a:pPr>
            <a:r>
              <a:rPr b="1" i="0" lang="en-US" sz="7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Bank Run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600"/>
              <a:buFont typeface="Arial"/>
              <a:buNone/>
            </a:pPr>
            <a:r>
              <a:rPr b="1" i="0" lang="en-US" sz="7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/>
          </a:p>
        </p:txBody>
      </p:sp>
      <p:sp>
        <p:nvSpPr>
          <p:cNvPr id="24" name="Google Shape;24;p2"/>
          <p:cNvSpPr txBox="1"/>
          <p:nvPr/>
        </p:nvSpPr>
        <p:spPr>
          <a:xfrm>
            <a:off x="594359" y="3555768"/>
            <a:ext cx="6766560" cy="313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Agent-Based Contagion via Social Networks</a:t>
            </a:r>
            <a:endParaRPr/>
          </a:p>
        </p:txBody>
      </p:sp>
      <p:sp>
        <p:nvSpPr>
          <p:cNvPr id="25" name="Google Shape;25;p2"/>
          <p:cNvSpPr txBox="1"/>
          <p:nvPr/>
        </p:nvSpPr>
        <p:spPr>
          <a:xfrm>
            <a:off x="594360" y="4456642"/>
            <a:ext cx="6766560" cy="276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Tim Haenicke &amp; Moritz Graemer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524ac2e5a_0_10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f524ac2e5a_0_10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01 Motivation and Li</a:t>
            </a:r>
            <a:r>
              <a:rPr lang="en-US" sz="800">
                <a:solidFill>
                  <a:srgbClr val="999999"/>
                </a:solidFill>
              </a:rPr>
              <a:t>terature</a:t>
            </a:r>
            <a:endParaRPr/>
          </a:p>
        </p:txBody>
      </p:sp>
      <p:sp>
        <p:nvSpPr>
          <p:cNvPr id="32" name="Google Shape;32;g3f524ac2e5a_0_10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/>
          </a:p>
        </p:txBody>
      </p:sp>
      <p:pic>
        <p:nvPicPr>
          <p:cNvPr id="33" name="Google Shape;33;g3f524ac2e5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063" y="1636949"/>
            <a:ext cx="5953774" cy="31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48640" y="475487"/>
            <a:ext cx="8046719" cy="36578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Structure</a:t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725725" y="1814275"/>
            <a:ext cx="60213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01 Introduction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02 Research Question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03 Model Setup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04 Results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05 Sources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3a5b72e04_0_14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f3a5b72e04_0_14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800">
                <a:solidFill>
                  <a:srgbClr val="999999"/>
                </a:solidFill>
              </a:rPr>
              <a:t>2</a:t>
            </a: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>
                <a:solidFill>
                  <a:srgbClr val="999999"/>
                </a:solidFill>
              </a:rPr>
              <a:t>Research Question</a:t>
            </a:r>
            <a:endParaRPr/>
          </a:p>
        </p:txBody>
      </p:sp>
      <p:sp>
        <p:nvSpPr>
          <p:cNvPr id="47" name="Google Shape;47;g3f3a5b72e04_0_14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/>
          </a:p>
        </p:txBody>
      </p:sp>
      <p:sp>
        <p:nvSpPr>
          <p:cNvPr id="48" name="Google Shape;48;g3f3a5b72e04_0_14"/>
          <p:cNvSpPr/>
          <p:nvPr/>
        </p:nvSpPr>
        <p:spPr>
          <a:xfrm>
            <a:off x="548640" y="2311382"/>
            <a:ext cx="8046600" cy="1206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f3a5b72e04_0_14"/>
          <p:cNvSpPr txBox="1"/>
          <p:nvPr/>
        </p:nvSpPr>
        <p:spPr>
          <a:xfrm>
            <a:off x="850391" y="2588402"/>
            <a:ext cx="744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A1A1A"/>
                </a:solidFill>
              </a:rPr>
              <a:t>How does the connectedness of a network influence the impact of shocks on a bank's balance sheet?</a:t>
            </a:r>
            <a:endParaRPr b="1"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502abba1d_1_2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502abba1d_1_2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</a:t>
            </a: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MODELL-SETUP</a:t>
            </a:r>
            <a:endParaRPr/>
          </a:p>
        </p:txBody>
      </p:sp>
      <p:sp>
        <p:nvSpPr>
          <p:cNvPr id="56" name="Google Shape;56;g3f502abba1d_1_2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Story</a:t>
            </a:r>
            <a:endParaRPr/>
          </a:p>
        </p:txBody>
      </p:sp>
      <p:pic>
        <p:nvPicPr>
          <p:cNvPr id="57" name="Google Shape;57;g3f502abba1d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875" y="4639123"/>
            <a:ext cx="6055162" cy="2892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g3f502abba1d_1_2"/>
          <p:cNvGrpSpPr/>
          <p:nvPr/>
        </p:nvGrpSpPr>
        <p:grpSpPr>
          <a:xfrm>
            <a:off x="4708082" y="3638012"/>
            <a:ext cx="845700" cy="745800"/>
            <a:chOff x="3279332" y="3915162"/>
            <a:chExt cx="845700" cy="745800"/>
          </a:xfrm>
        </p:grpSpPr>
        <p:pic>
          <p:nvPicPr>
            <p:cNvPr id="59" name="Google Shape;59;g3f502abba1d_1_2" title="pig_red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08118" y="3915162"/>
              <a:ext cx="745800" cy="74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g3f502abba1d_1_2"/>
            <p:cNvSpPr txBox="1"/>
            <p:nvPr/>
          </p:nvSpPr>
          <p:spPr>
            <a:xfrm>
              <a:off x="3279332" y="4177096"/>
              <a:ext cx="845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Watcher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g3f502abba1d_1_2"/>
          <p:cNvGrpSpPr/>
          <p:nvPr/>
        </p:nvGrpSpPr>
        <p:grpSpPr>
          <a:xfrm>
            <a:off x="3557438" y="3638000"/>
            <a:ext cx="845700" cy="745800"/>
            <a:chOff x="4553813" y="3807375"/>
            <a:chExt cx="845700" cy="745800"/>
          </a:xfrm>
        </p:grpSpPr>
        <p:pic>
          <p:nvPicPr>
            <p:cNvPr id="62" name="Google Shape;62;g3f502abba1d_1_2" title="pig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61150" y="3807375"/>
              <a:ext cx="745800" cy="74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g3f502abba1d_1_2"/>
            <p:cNvSpPr txBox="1"/>
            <p:nvPr/>
          </p:nvSpPr>
          <p:spPr>
            <a:xfrm>
              <a:off x="4553813" y="4085184"/>
              <a:ext cx="845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Sleeper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g3f502abba1d_1_2"/>
          <p:cNvSpPr txBox="1"/>
          <p:nvPr/>
        </p:nvSpPr>
        <p:spPr>
          <a:xfrm>
            <a:off x="4517875" y="4407850"/>
            <a:ext cx="12261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n*watcher_share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f502abba1d_1_2"/>
          <p:cNvSpPr txBox="1"/>
          <p:nvPr/>
        </p:nvSpPr>
        <p:spPr>
          <a:xfrm>
            <a:off x="3104168" y="4407850"/>
            <a:ext cx="14097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n*(1-watcher_share)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g3f502abba1d_1_2" title="bank spli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3525" y="1292575"/>
            <a:ext cx="1564925" cy="156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f502abba1d_1_2"/>
          <p:cNvSpPr txBox="1"/>
          <p:nvPr/>
        </p:nvSpPr>
        <p:spPr>
          <a:xfrm>
            <a:off x="4305300" y="2591323"/>
            <a:ext cx="845700" cy="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illiquid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502abba1d_1_2"/>
          <p:cNvSpPr txBox="1"/>
          <p:nvPr/>
        </p:nvSpPr>
        <p:spPr>
          <a:xfrm>
            <a:off x="3668179" y="2584007"/>
            <a:ext cx="845700" cy="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liquid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g3f502abba1d_1_2"/>
          <p:cNvCxnSpPr>
            <a:stCxn id="59" idx="0"/>
            <a:endCxn id="66" idx="2"/>
          </p:cNvCxnSpPr>
          <p:nvPr/>
        </p:nvCxnSpPr>
        <p:spPr>
          <a:xfrm flipH="1" rot="5400000">
            <a:off x="4382568" y="2910812"/>
            <a:ext cx="780600" cy="6738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g3f502abba1d_1_2"/>
          <p:cNvCxnSpPr>
            <a:stCxn id="62" idx="0"/>
            <a:endCxn id="66" idx="2"/>
          </p:cNvCxnSpPr>
          <p:nvPr/>
        </p:nvCxnSpPr>
        <p:spPr>
          <a:xfrm rot="-5400000">
            <a:off x="3796525" y="2998550"/>
            <a:ext cx="780600" cy="4983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g3f502abba1d_1_2"/>
          <p:cNvCxnSpPr>
            <a:stCxn id="66" idx="2"/>
            <a:endCxn id="59" idx="0"/>
          </p:cNvCxnSpPr>
          <p:nvPr/>
        </p:nvCxnSpPr>
        <p:spPr>
          <a:xfrm flipH="1" rot="-5400000">
            <a:off x="4382588" y="2910900"/>
            <a:ext cx="780600" cy="6738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g3f502abba1d_1_2"/>
          <p:cNvCxnSpPr>
            <a:stCxn id="66" idx="2"/>
            <a:endCxn id="62" idx="0"/>
          </p:cNvCxnSpPr>
          <p:nvPr/>
        </p:nvCxnSpPr>
        <p:spPr>
          <a:xfrm rot="5400000">
            <a:off x="3796538" y="2998650"/>
            <a:ext cx="780600" cy="4983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g3f502abba1d_1_2"/>
          <p:cNvCxnSpPr>
            <a:stCxn id="63" idx="3"/>
            <a:endCxn id="60" idx="1"/>
          </p:cNvCxnSpPr>
          <p:nvPr/>
        </p:nvCxnSpPr>
        <p:spPr>
          <a:xfrm flipH="1" rot="10800000">
            <a:off x="4403138" y="4084559"/>
            <a:ext cx="3048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g3f502abba1d_1_2"/>
          <p:cNvCxnSpPr>
            <a:stCxn id="66" idx="3"/>
            <a:endCxn id="60" idx="3"/>
          </p:cNvCxnSpPr>
          <p:nvPr/>
        </p:nvCxnSpPr>
        <p:spPr>
          <a:xfrm>
            <a:off x="5218450" y="2075038"/>
            <a:ext cx="335400" cy="2009700"/>
          </a:xfrm>
          <a:prstGeom prst="curvedConnector3">
            <a:avLst>
              <a:gd fmla="val 17097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g3f502abba1d_1_2"/>
          <p:cNvSpPr txBox="1"/>
          <p:nvPr/>
        </p:nvSpPr>
        <p:spPr>
          <a:xfrm>
            <a:off x="5962925" y="2988438"/>
            <a:ext cx="18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signal(liquidity)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502abba1d_1_2"/>
          <p:cNvSpPr txBox="1"/>
          <p:nvPr/>
        </p:nvSpPr>
        <p:spPr>
          <a:xfrm>
            <a:off x="1761596" y="1945600"/>
            <a:ext cx="11322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bank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502abba1d_1_2"/>
          <p:cNvSpPr txBox="1"/>
          <p:nvPr/>
        </p:nvSpPr>
        <p:spPr>
          <a:xfrm>
            <a:off x="1366196" y="3761350"/>
            <a:ext cx="156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depositors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02abba1d_1_32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502abba1d_1_32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  <p:sp>
        <p:nvSpPr>
          <p:cNvPr id="84" name="Google Shape;84;g3f502abba1d_1_32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3600">
                <a:solidFill>
                  <a:srgbClr val="1A1A1A"/>
                </a:solidFill>
              </a:rPr>
              <a:t>Code</a:t>
            </a:r>
            <a:endParaRPr/>
          </a:p>
        </p:txBody>
      </p:sp>
      <p:pic>
        <p:nvPicPr>
          <p:cNvPr id="85" name="Google Shape;85;g3f502abba1d_1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13" y="1553138"/>
            <a:ext cx="8013565" cy="328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4db0dba76_0_1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4db0dba76_0_1"/>
          <p:cNvSpPr txBox="1"/>
          <p:nvPr/>
        </p:nvSpPr>
        <p:spPr>
          <a:xfrm>
            <a:off x="441800" y="918225"/>
            <a:ext cx="85905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F69"/>
                </a:solidFill>
                <a:highlight>
                  <a:srgbClr val="FFFFFF"/>
                </a:highlight>
              </a:rPr>
              <a:t>turtles-own</a:t>
            </a: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state</a:t>
            </a: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             		</a:t>
            </a:r>
            <a:r>
              <a:rPr lang="en-US">
                <a:solidFill>
                  <a:srgbClr val="787878"/>
                </a:solidFill>
                <a:highlight>
                  <a:srgbClr val="FFFFFF"/>
                </a:highlight>
              </a:rPr>
              <a:t>;; "calm" | "concerned" | "withdraw"</a:t>
            </a:r>
            <a:endParaRPr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chemeClr val="lt1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</a:rPr>
              <a:t>watcher?</a:t>
            </a:r>
            <a:r>
              <a:rPr lang="en-US" sz="2400">
                <a:solidFill>
                  <a:srgbClr val="808080"/>
                </a:solidFill>
                <a:highlight>
                  <a:schemeClr val="lt1"/>
                </a:highlight>
              </a:rPr>
              <a:t>       		</a:t>
            </a:r>
            <a:r>
              <a:rPr lang="en-US">
                <a:solidFill>
                  <a:srgbClr val="787878"/>
                </a:solidFill>
                <a:highlight>
                  <a:schemeClr val="lt1"/>
                </a:highlight>
              </a:rPr>
              <a:t>;; true = receives s(l) </a:t>
            </a:r>
            <a:endParaRPr>
              <a:solidFill>
                <a:srgbClr val="787878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chemeClr val="lt1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</a:rPr>
              <a:t>credibility</a:t>
            </a:r>
            <a:r>
              <a:rPr lang="en-US" sz="2400">
                <a:solidFill>
                  <a:srgbClr val="808080"/>
                </a:solidFill>
                <a:highlight>
                  <a:schemeClr val="lt1"/>
                </a:highlight>
              </a:rPr>
              <a:t>       		</a:t>
            </a:r>
            <a:r>
              <a:rPr lang="en-US">
                <a:solidFill>
                  <a:srgbClr val="787878"/>
                </a:solidFill>
                <a:highlight>
                  <a:schemeClr val="lt1"/>
                </a:highlight>
              </a:rPr>
              <a:t>;; [0,1] -&gt; size / credibility</a:t>
            </a:r>
            <a:endParaRPr>
              <a:solidFill>
                <a:srgbClr val="787878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787878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deposit-i</a:t>
            </a: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         		</a:t>
            </a:r>
            <a:r>
              <a:rPr lang="en-US">
                <a:solidFill>
                  <a:srgbClr val="787878"/>
                </a:solidFill>
                <a:highlight>
                  <a:srgbClr val="FFFFFF"/>
                </a:highlight>
              </a:rPr>
              <a:t>;; agents deposit in bank</a:t>
            </a:r>
            <a:endParaRPr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cash-held</a:t>
            </a: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         		</a:t>
            </a:r>
            <a:r>
              <a:rPr lang="en-US">
                <a:solidFill>
                  <a:srgbClr val="787878"/>
                </a:solidFill>
                <a:highlight>
                  <a:srgbClr val="FFFFFF"/>
                </a:highlight>
              </a:rPr>
              <a:t>;; withdrawn money</a:t>
            </a:r>
            <a:endParaRPr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naivety-concerned</a:t>
            </a: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 </a:t>
            </a:r>
            <a:r>
              <a:rPr lang="en-US">
                <a:solidFill>
                  <a:srgbClr val="787878"/>
                </a:solidFill>
                <a:highlight>
                  <a:srgbClr val="FFFFFF"/>
                </a:highlight>
              </a:rPr>
              <a:t>;; lower threshold(calm -&gt; concerned)</a:t>
            </a:r>
            <a:endParaRPr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naivety-withdraw</a:t>
            </a:r>
            <a:r>
              <a:rPr lang="en-US" sz="2400">
                <a:solidFill>
                  <a:srgbClr val="808080"/>
                </a:solidFill>
                <a:highlight>
                  <a:srgbClr val="FFFFFF"/>
                </a:highlight>
              </a:rPr>
              <a:t>   	</a:t>
            </a:r>
            <a:r>
              <a:rPr lang="en-US">
                <a:solidFill>
                  <a:srgbClr val="787878"/>
                </a:solidFill>
                <a:highlight>
                  <a:srgbClr val="FFFFFF"/>
                </a:highlight>
              </a:rPr>
              <a:t>;; upper threshold (concerned -&gt; withdraw)</a:t>
            </a:r>
            <a:endParaRPr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</a:rPr>
              <a:t>]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92" name="Google Shape;92;g3f4db0dba76_0_1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a580d02d_0_54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3a580d02d_0_54"/>
          <p:cNvSpPr txBox="1"/>
          <p:nvPr/>
        </p:nvSpPr>
        <p:spPr>
          <a:xfrm>
            <a:off x="548650" y="786300"/>
            <a:ext cx="8253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F69"/>
                </a:solidFill>
                <a:highlight>
                  <a:srgbClr val="FFFFFF"/>
                </a:highlight>
              </a:rPr>
              <a:t>globals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bank-deposits</a:t>
            </a: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  </a:t>
            </a:r>
            <a:r>
              <a:rPr lang="en-US">
                <a:solidFill>
                  <a:schemeClr val="dk2"/>
                </a:solidFill>
                <a:highlight>
                  <a:schemeClr val="lt1"/>
                </a:highlight>
              </a:rPr>
              <a:t>;; deposits</a:t>
            </a:r>
            <a:endParaRPr sz="180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bank-liquidity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    </a:t>
            </a:r>
            <a:r>
              <a:rPr lang="en-US">
                <a:solidFill>
                  <a:schemeClr val="dk2"/>
                </a:solidFill>
                <a:highlight>
                  <a:srgbClr val="FFFFFF"/>
                </a:highlight>
              </a:rPr>
              <a:t>;; liquidity</a:t>
            </a:r>
            <a:endParaRPr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bank-debt</a:t>
            </a: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         </a:t>
            </a:r>
            <a:r>
              <a:rPr lang="en-US">
                <a:solidFill>
                  <a:schemeClr val="dk2"/>
                </a:solidFill>
                <a:highlight>
                  <a:schemeClr val="lt1"/>
                </a:highlight>
              </a:rPr>
              <a:t>;; current bank debt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bank-alive?</a:t>
            </a: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       </a:t>
            </a:r>
            <a:r>
              <a:rPr lang="en-US">
                <a:solidFill>
                  <a:schemeClr val="dk2"/>
                </a:solidFill>
                <a:highlight>
                  <a:schemeClr val="lt1"/>
                </a:highlight>
              </a:rPr>
              <a:t>;; banks state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current-signal</a:t>
            </a:r>
            <a:r>
              <a:rPr lang="en-US" sz="1800">
                <a:solidFill>
                  <a:srgbClr val="808080"/>
                </a:solidFill>
                <a:highlight>
                  <a:schemeClr val="lt1"/>
                </a:highlight>
              </a:rPr>
              <a:t>    </a:t>
            </a:r>
            <a:r>
              <a:rPr lang="en-US">
                <a:solidFill>
                  <a:schemeClr val="dk2"/>
                </a:solidFill>
                <a:highlight>
                  <a:schemeClr val="lt1"/>
                </a:highlight>
              </a:rPr>
              <a:t>;; signal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initial-deposits   </a:t>
            </a:r>
            <a:r>
              <a:rPr lang="en-US">
                <a:solidFill>
                  <a:schemeClr val="dk2"/>
                </a:solidFill>
                <a:highlight>
                  <a:srgbClr val="FFFFFF"/>
                </a:highlight>
              </a:rPr>
              <a:t>;; reference for lolr-cap</a:t>
            </a:r>
            <a:endParaRPr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shocked?           </a:t>
            </a:r>
            <a:r>
              <a:rPr lang="en-US">
                <a:solidFill>
                  <a:schemeClr val="dk2"/>
                </a:solidFill>
                <a:highlight>
                  <a:srgbClr val="FFFFFF"/>
                </a:highlight>
              </a:rPr>
              <a:t>;; for tracking </a:t>
            </a:r>
            <a:r>
              <a:rPr lang="en-US">
                <a:solidFill>
                  <a:schemeClr val="dk2"/>
                </a:solidFill>
                <a:highlight>
                  <a:srgbClr val="FFFFFF"/>
                </a:highlight>
              </a:rPr>
              <a:t>simulation</a:t>
            </a:r>
            <a:endParaRPr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shock-tick           </a:t>
            </a:r>
            <a:r>
              <a:rPr lang="en-US">
                <a:solidFill>
                  <a:schemeClr val="dk2"/>
                </a:solidFill>
                <a:highlight>
                  <a:srgbClr val="FFFFFF"/>
                </a:highlight>
              </a:rPr>
              <a:t>;; -1 = no shock, after that counts ticks since shock</a:t>
            </a:r>
            <a:endParaRPr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peak-withdrawn  </a:t>
            </a:r>
            <a:r>
              <a:rPr lang="en-US">
                <a:solidFill>
                  <a:schemeClr val="dk2"/>
                </a:solidFill>
                <a:highlight>
                  <a:srgbClr val="FFFFFF"/>
                </a:highlight>
              </a:rPr>
              <a:t>;; max frac withdrawn</a:t>
            </a:r>
            <a:endParaRPr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]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99" name="Google Shape;99;g3f3a580d02d_0_54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a580d02d_0_39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3a580d02d_0_39"/>
          <p:cNvSpPr txBox="1"/>
          <p:nvPr/>
        </p:nvSpPr>
        <p:spPr>
          <a:xfrm>
            <a:off x="639800" y="918225"/>
            <a:ext cx="61263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7F69"/>
                </a:solidFill>
                <a:highlight>
                  <a:srgbClr val="FFFFFF"/>
                </a:highlight>
              </a:rPr>
              <a:t>to</a:t>
            </a:r>
            <a:r>
              <a:rPr lang="en-US" sz="36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3600">
                <a:solidFill>
                  <a:schemeClr val="dk1"/>
                </a:solidFill>
                <a:highlight>
                  <a:srgbClr val="FFFFFF"/>
                </a:highlight>
              </a:rPr>
              <a:t>go</a:t>
            </a:r>
            <a:endParaRPr sz="3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000AA"/>
                </a:solidFill>
                <a:highlight>
                  <a:srgbClr val="FFFFFF"/>
                </a:highlight>
              </a:rPr>
              <a:t>if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660096"/>
                </a:solidFill>
                <a:highlight>
                  <a:srgbClr val="FFFFFF"/>
                </a:highlight>
              </a:rPr>
              <a:t>not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bank-alive?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000AA"/>
                </a:solidFill>
                <a:highlight>
                  <a:srgbClr val="FFFFFF"/>
                </a:highlight>
              </a:rPr>
              <a:t>stop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]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update-signal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highlight>
                  <a:srgbClr val="FFFFFF"/>
                </a:highlight>
              </a:rPr>
              <a:t> baseline-noise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agents-decide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bank-manage-liquidity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highlight>
                  <a:srgbClr val="FFFFFF"/>
                </a:highlight>
              </a:rPr>
              <a:t> recolor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000AA"/>
                </a:solidFill>
                <a:highlight>
                  <a:srgbClr val="FFFFFF"/>
                </a:highlight>
              </a:rPr>
              <a:t>tick</a:t>
            </a:r>
            <a:endParaRPr sz="2000">
              <a:solidFill>
                <a:srgbClr val="0000A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F69"/>
                </a:solidFill>
                <a:highlight>
                  <a:srgbClr val="FFFFFF"/>
                </a:highlight>
              </a:rPr>
              <a:t>end</a:t>
            </a:r>
            <a:endParaRPr b="1" sz="2000">
              <a:solidFill>
                <a:srgbClr val="007F69"/>
              </a:solidFill>
              <a:highlight>
                <a:srgbClr val="FFFFFF"/>
              </a:highlight>
            </a:endParaRPr>
          </a:p>
        </p:txBody>
      </p:sp>
      <p:sp>
        <p:nvSpPr>
          <p:cNvPr id="106" name="Google Shape;106;g3f3a580d02d_0_39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4db0dba76_0_40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4db0dba76_0_40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update-signal</a:t>
            </a:r>
            <a:endParaRPr b="1" sz="3600">
              <a:solidFill>
                <a:srgbClr val="1A1A1A"/>
              </a:solidFill>
            </a:endParaRPr>
          </a:p>
        </p:txBody>
      </p:sp>
      <p:pic>
        <p:nvPicPr>
          <p:cNvPr id="113" name="Google Shape;113;g3f4db0dba76_0_40" title="Bildschirmfoto 2026-07-13 um 10.55.14.png"/>
          <p:cNvPicPr preferRelativeResize="0"/>
          <p:nvPr/>
        </p:nvPicPr>
        <p:blipFill rotWithShape="1">
          <a:blip r:embed="rId3">
            <a:alphaModFix/>
          </a:blip>
          <a:srcRect b="0" l="0" r="61418" t="0"/>
          <a:stretch/>
        </p:blipFill>
        <p:spPr>
          <a:xfrm>
            <a:off x="454950" y="1553150"/>
            <a:ext cx="2518701" cy="154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ldschirmfoto 2026-06-17 um 11.00.58.png" id="114" name="Google Shape;114;g3f4db0dba76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2500" y="1430600"/>
            <a:ext cx="2680200" cy="31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f4db0dba76_0_40" title="Bildschirmfoto 2026-07-13 um 10.55.14.png"/>
          <p:cNvPicPr preferRelativeResize="0"/>
          <p:nvPr/>
        </p:nvPicPr>
        <p:blipFill rotWithShape="1">
          <a:blip r:embed="rId3">
            <a:alphaModFix/>
          </a:blip>
          <a:srcRect b="0" l="38916" r="0" t="27959"/>
          <a:stretch/>
        </p:blipFill>
        <p:spPr>
          <a:xfrm>
            <a:off x="650500" y="2799422"/>
            <a:ext cx="3987574" cy="11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f4db0dba76_0_40"/>
          <p:cNvSpPr txBox="1"/>
          <p:nvPr/>
        </p:nvSpPr>
        <p:spPr>
          <a:xfrm>
            <a:off x="7585150" y="4170075"/>
            <a:ext cx="146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liquidity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4db0dba76_0_40"/>
          <p:cNvSpPr txBox="1"/>
          <p:nvPr/>
        </p:nvSpPr>
        <p:spPr>
          <a:xfrm>
            <a:off x="5308400" y="1430600"/>
            <a:ext cx="964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signal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4db0dba76_0_40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4db0dba76_0_25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4db0dba76_0_25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agents-decide</a:t>
            </a:r>
            <a:endParaRPr b="1" sz="3600">
              <a:solidFill>
                <a:srgbClr val="1A1A1A"/>
              </a:solidFill>
            </a:endParaRPr>
          </a:p>
        </p:txBody>
      </p:sp>
      <p:grpSp>
        <p:nvGrpSpPr>
          <p:cNvPr id="125" name="Google Shape;125;g3f4db0dba76_0_25"/>
          <p:cNvGrpSpPr/>
          <p:nvPr/>
        </p:nvGrpSpPr>
        <p:grpSpPr>
          <a:xfrm>
            <a:off x="1908400" y="1636949"/>
            <a:ext cx="387900" cy="2990600"/>
            <a:chOff x="2020650" y="1602149"/>
            <a:chExt cx="387900" cy="2990600"/>
          </a:xfrm>
        </p:grpSpPr>
        <p:sp>
          <p:nvSpPr>
            <p:cNvPr id="126" name="Google Shape;126;g3f4db0dba76_0_25"/>
            <p:cNvSpPr/>
            <p:nvPr/>
          </p:nvSpPr>
          <p:spPr>
            <a:xfrm>
              <a:off x="2020650" y="1612450"/>
              <a:ext cx="387900" cy="990000"/>
            </a:xfrm>
            <a:prstGeom prst="rect">
              <a:avLst/>
            </a:prstGeom>
            <a:solidFill>
              <a:srgbClr val="E0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f4db0dba76_0_25"/>
            <p:cNvSpPr/>
            <p:nvPr/>
          </p:nvSpPr>
          <p:spPr>
            <a:xfrm>
              <a:off x="2020650" y="2602450"/>
              <a:ext cx="387900" cy="990000"/>
            </a:xfrm>
            <a:prstGeom prst="rect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3f4db0dba76_0_25"/>
            <p:cNvSpPr/>
            <p:nvPr/>
          </p:nvSpPr>
          <p:spPr>
            <a:xfrm>
              <a:off x="2020650" y="3592450"/>
              <a:ext cx="387900" cy="990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f4db0dba76_0_25"/>
            <p:cNvSpPr txBox="1"/>
            <p:nvPr/>
          </p:nvSpPr>
          <p:spPr>
            <a:xfrm rot="-5400000">
              <a:off x="1729800" y="1909949"/>
              <a:ext cx="969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withdraw</a:t>
              </a:r>
              <a:endParaRPr sz="3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g3f4db0dba76_0_25"/>
            <p:cNvSpPr txBox="1"/>
            <p:nvPr/>
          </p:nvSpPr>
          <p:spPr>
            <a:xfrm rot="-5400000">
              <a:off x="1729800" y="2920449"/>
              <a:ext cx="969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concerned</a:t>
              </a:r>
              <a:endParaRPr sz="3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g3f4db0dba76_0_25"/>
            <p:cNvSpPr txBox="1"/>
            <p:nvPr/>
          </p:nvSpPr>
          <p:spPr>
            <a:xfrm rot="-5400000">
              <a:off x="1729800" y="3930949"/>
              <a:ext cx="969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calm</a:t>
              </a:r>
              <a:endParaRPr sz="32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g3f4db0dba76_0_25"/>
          <p:cNvSpPr/>
          <p:nvPr/>
        </p:nvSpPr>
        <p:spPr>
          <a:xfrm>
            <a:off x="2448700" y="1754775"/>
            <a:ext cx="877500" cy="606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4db0dba76_0_25"/>
          <p:cNvSpPr txBox="1"/>
          <p:nvPr/>
        </p:nvSpPr>
        <p:spPr>
          <a:xfrm>
            <a:off x="193875" y="2418675"/>
            <a:ext cx="180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r>
              <a:rPr lang="en-US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Withdraw</a:t>
            </a:r>
            <a:endParaRPr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4db0dba76_0_25"/>
          <p:cNvSpPr txBox="1"/>
          <p:nvPr/>
        </p:nvSpPr>
        <p:spPr>
          <a:xfrm>
            <a:off x="193875" y="3459525"/>
            <a:ext cx="1806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Threshold concerned</a:t>
            </a:r>
            <a:endParaRPr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g3f4db0dba76_0_25"/>
          <p:cNvGrpSpPr/>
          <p:nvPr/>
        </p:nvGrpSpPr>
        <p:grpSpPr>
          <a:xfrm>
            <a:off x="4764850" y="2418675"/>
            <a:ext cx="3830400" cy="2339700"/>
            <a:chOff x="4818050" y="1328800"/>
            <a:chExt cx="3830400" cy="2339700"/>
          </a:xfrm>
        </p:grpSpPr>
        <p:sp>
          <p:nvSpPr>
            <p:cNvPr id="136" name="Google Shape;136;g3f4db0dba76_0_25"/>
            <p:cNvSpPr txBox="1"/>
            <p:nvPr/>
          </p:nvSpPr>
          <p:spPr>
            <a:xfrm>
              <a:off x="4818050" y="1328800"/>
              <a:ext cx="38304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F69"/>
                  </a:solidFill>
                  <a:highlight>
                    <a:srgbClr val="FFFFFF"/>
                  </a:highlight>
                </a:rPr>
                <a:t>to-report</a:t>
              </a:r>
              <a:r>
                <a:rPr lang="en-US" sz="2000">
                  <a:solidFill>
                    <a:srgbClr val="808080"/>
                  </a:solidFill>
                  <a:highlight>
                    <a:srgbClr val="FFFFFF"/>
                  </a:highlight>
                </a:rPr>
                <a:t> </a:t>
              </a:r>
              <a:r>
                <a:rPr lang="en-US" sz="2000">
                  <a:solidFill>
                    <a:schemeClr val="dk1"/>
                  </a:solidFill>
                  <a:highlight>
                    <a:srgbClr val="FFFFFF"/>
                  </a:highlight>
                </a:rPr>
                <a:t>perceived-signal</a:t>
              </a:r>
              <a:endParaRPr sz="20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F69"/>
                  </a:solidFill>
                  <a:highlight>
                    <a:srgbClr val="FFFFFF"/>
                  </a:highlight>
                </a:rPr>
                <a:t>end</a:t>
              </a:r>
              <a:endParaRPr b="1" sz="2000">
                <a:solidFill>
                  <a:srgbClr val="007F69"/>
                </a:solidFill>
                <a:highlight>
                  <a:srgbClr val="FFFFFF"/>
                </a:highlight>
              </a:endParaRPr>
            </a:p>
          </p:txBody>
        </p:sp>
        <p:pic>
          <p:nvPicPr>
            <p:cNvPr id="137" name="Google Shape;137;g3f4db0dba76_0_25" title="Bildschirmfoto 2026-07-13 um 11.26.19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8050" y="1947725"/>
              <a:ext cx="3731700" cy="11896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8" name="Google Shape;138;g3f4db0dba76_0_25" title="Bildschirmfoto 2026-07-13 um 11.30.11.png"/>
          <p:cNvPicPr preferRelativeResize="0"/>
          <p:nvPr/>
        </p:nvPicPr>
        <p:blipFill rotWithShape="1">
          <a:blip r:embed="rId4">
            <a:alphaModFix/>
          </a:blip>
          <a:srcRect b="12049" l="0" r="0" t="0"/>
          <a:stretch/>
        </p:blipFill>
        <p:spPr>
          <a:xfrm>
            <a:off x="4764850" y="1501075"/>
            <a:ext cx="3697226" cy="73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4db0dba76_0_25"/>
          <p:cNvSpPr/>
          <p:nvPr/>
        </p:nvSpPr>
        <p:spPr>
          <a:xfrm>
            <a:off x="2448700" y="3999825"/>
            <a:ext cx="877500" cy="606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4db0dba76_0_25"/>
          <p:cNvSpPr/>
          <p:nvPr/>
        </p:nvSpPr>
        <p:spPr>
          <a:xfrm>
            <a:off x="2448700" y="2828950"/>
            <a:ext cx="877500" cy="606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4db0dba76_0_25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4db0dba76_0_31"/>
          <p:cNvSpPr/>
          <p:nvPr/>
        </p:nvSpPr>
        <p:spPr>
          <a:xfrm>
            <a:off x="649990" y="570862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4db0dba76_0_31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bank-manage-liquidity</a:t>
            </a:r>
            <a:endParaRPr b="1" sz="3600">
              <a:solidFill>
                <a:srgbClr val="1A1A1A"/>
              </a:solidFill>
            </a:endParaRPr>
          </a:p>
        </p:txBody>
      </p:sp>
      <p:sp>
        <p:nvSpPr>
          <p:cNvPr id="148" name="Google Shape;148;g3f4db0dba76_0_31"/>
          <p:cNvSpPr txBox="1"/>
          <p:nvPr/>
        </p:nvSpPr>
        <p:spPr>
          <a:xfrm>
            <a:off x="709425" y="1711675"/>
            <a:ext cx="35811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with Lender of Last Resort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4db0dba76_0_31"/>
          <p:cNvSpPr/>
          <p:nvPr/>
        </p:nvSpPr>
        <p:spPr>
          <a:xfrm>
            <a:off x="1790500" y="2207175"/>
            <a:ext cx="461700" cy="1227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4db0dba76_0_31"/>
          <p:cNvSpPr/>
          <p:nvPr/>
        </p:nvSpPr>
        <p:spPr>
          <a:xfrm>
            <a:off x="1790500" y="3434775"/>
            <a:ext cx="461700" cy="1227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4db0dba76_0_31"/>
          <p:cNvSpPr txBox="1"/>
          <p:nvPr/>
        </p:nvSpPr>
        <p:spPr>
          <a:xfrm rot="-5400000">
            <a:off x="1266250" y="2637675"/>
            <a:ext cx="151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borrow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4db0dba76_0_31"/>
          <p:cNvSpPr txBox="1"/>
          <p:nvPr/>
        </p:nvSpPr>
        <p:spPr>
          <a:xfrm rot="-5400000">
            <a:off x="1266250" y="3865275"/>
            <a:ext cx="15102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 back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4db0dba76_0_31"/>
          <p:cNvSpPr/>
          <p:nvPr/>
        </p:nvSpPr>
        <p:spPr>
          <a:xfrm>
            <a:off x="2342300" y="3699525"/>
            <a:ext cx="1035900" cy="698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liquidity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g3f4db0dba76_0_31" title="Bildschirmfoto 2026-07-13 um 11.3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01892" cy="266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f4db0dba76_0_31" title="Bildschirmfoto 2026-07-13 um 11.41.04.png"/>
          <p:cNvPicPr preferRelativeResize="0"/>
          <p:nvPr/>
        </p:nvPicPr>
        <p:blipFill rotWithShape="1">
          <a:blip r:embed="rId4">
            <a:alphaModFix/>
          </a:blip>
          <a:srcRect b="0" l="0" r="8609" t="0"/>
          <a:stretch/>
        </p:blipFill>
        <p:spPr>
          <a:xfrm>
            <a:off x="47950" y="3213325"/>
            <a:ext cx="1714838" cy="55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g3f4db0dba76_0_31"/>
          <p:cNvGrpSpPr/>
          <p:nvPr/>
        </p:nvGrpSpPr>
        <p:grpSpPr>
          <a:xfrm rot="5400000">
            <a:off x="5624675" y="1541625"/>
            <a:ext cx="461700" cy="1510200"/>
            <a:chOff x="4122650" y="2126700"/>
            <a:chExt cx="461700" cy="1510200"/>
          </a:xfrm>
        </p:grpSpPr>
        <p:sp>
          <p:nvSpPr>
            <p:cNvPr id="157" name="Google Shape;157;g3f4db0dba76_0_31"/>
            <p:cNvSpPr/>
            <p:nvPr/>
          </p:nvSpPr>
          <p:spPr>
            <a:xfrm>
              <a:off x="4122650" y="2268000"/>
              <a:ext cx="461700" cy="1227600"/>
            </a:xfrm>
            <a:prstGeom prst="rect">
              <a:avLst/>
            </a:prstGeom>
            <a:solidFill>
              <a:srgbClr val="E0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g3f4db0dba76_0_31"/>
            <p:cNvSpPr txBox="1"/>
            <p:nvPr/>
          </p:nvSpPr>
          <p:spPr>
            <a:xfrm rot="-5400000">
              <a:off x="3598400" y="2698500"/>
              <a:ext cx="15102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borrow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g3f4db0dba76_0_31"/>
          <p:cNvSpPr txBox="1"/>
          <p:nvPr/>
        </p:nvSpPr>
        <p:spPr>
          <a:xfrm>
            <a:off x="4698750" y="2752950"/>
            <a:ext cx="4445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AA"/>
                </a:solidFill>
                <a:highlight>
                  <a:srgbClr val="FFFFFF"/>
                </a:highlight>
              </a:rPr>
              <a:t>if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lolr-active?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and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bank-liquidity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target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</a:t>
            </a:r>
            <a:r>
              <a:rPr lang="en-US" sz="1200">
                <a:solidFill>
                  <a:srgbClr val="0000AA"/>
                </a:solidFill>
                <a:highlight>
                  <a:srgbClr val="FFFFFF"/>
                </a:highlight>
              </a:rPr>
              <a:t>let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need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target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-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bank-liquidity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787878"/>
                </a:solidFill>
                <a:highlight>
                  <a:srgbClr val="FFFFFF"/>
                </a:highlight>
              </a:rPr>
              <a:t>;; needed</a:t>
            </a:r>
            <a:endParaRPr sz="1200"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</a:t>
            </a:r>
            <a:r>
              <a:rPr lang="en-US" sz="1200">
                <a:solidFill>
                  <a:srgbClr val="0000AA"/>
                </a:solidFill>
                <a:highlight>
                  <a:srgbClr val="FFFFFF"/>
                </a:highlight>
              </a:rPr>
              <a:t>let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cap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lolr-cap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*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initial-deposits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787878"/>
                </a:solidFill>
                <a:highlight>
                  <a:srgbClr val="FFFFFF"/>
                </a:highlight>
              </a:rPr>
              <a:t>;; maximally allowed</a:t>
            </a:r>
            <a:endParaRPr sz="1200"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</a:t>
            </a:r>
            <a:r>
              <a:rPr lang="en-US" sz="1200">
                <a:solidFill>
                  <a:srgbClr val="0000AA"/>
                </a:solidFill>
                <a:highlight>
                  <a:srgbClr val="FFFFFF"/>
                </a:highlight>
              </a:rPr>
              <a:t>let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borrow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min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list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need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cap)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787878"/>
                </a:solidFill>
                <a:highlight>
                  <a:srgbClr val="FFFFFF"/>
                </a:highlight>
              </a:rPr>
              <a:t>;; borrow the allowed amount</a:t>
            </a:r>
            <a:endParaRPr sz="1200"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</a:t>
            </a:r>
            <a:r>
              <a:rPr lang="en-US" sz="1200">
                <a:solidFill>
                  <a:srgbClr val="0000AA"/>
                </a:solidFill>
                <a:highlight>
                  <a:srgbClr val="FFFFFF"/>
                </a:highlight>
              </a:rPr>
              <a:t>set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bank-liquidity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bank-liquidity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+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borrow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787878"/>
                </a:solidFill>
                <a:highlight>
                  <a:srgbClr val="FFFFFF"/>
                </a:highlight>
              </a:rPr>
              <a:t>;; add to liquidity</a:t>
            </a:r>
            <a:endParaRPr sz="1200"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</a:t>
            </a:r>
            <a:r>
              <a:rPr lang="en-US" sz="1200">
                <a:solidFill>
                  <a:srgbClr val="0000AA"/>
                </a:solidFill>
                <a:highlight>
                  <a:srgbClr val="FFFFFF"/>
                </a:highlight>
              </a:rPr>
              <a:t>set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bank-debt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    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bank-debt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660096"/>
                </a:solidFill>
                <a:highlight>
                  <a:srgbClr val="FFFFFF"/>
                </a:highlight>
              </a:rPr>
              <a:t>+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borrow</a:t>
            </a: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787878"/>
                </a:solidFill>
                <a:highlight>
                  <a:srgbClr val="FFFFFF"/>
                </a:highlight>
              </a:rPr>
              <a:t>;; put it on as debt</a:t>
            </a:r>
            <a:endParaRPr sz="1200"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</a:rPr>
              <a:t>]</a:t>
            </a:r>
            <a:endParaRPr sz="1600">
              <a:solidFill>
                <a:srgbClr val="0000AA"/>
              </a:solidFill>
              <a:highlight>
                <a:srgbClr val="FFFFFF"/>
              </a:highlight>
            </a:endParaRPr>
          </a:p>
        </p:txBody>
      </p:sp>
      <p:cxnSp>
        <p:nvCxnSpPr>
          <p:cNvPr id="160" name="Google Shape;160;g3f4db0dba76_0_31"/>
          <p:cNvCxnSpPr/>
          <p:nvPr/>
        </p:nvCxnSpPr>
        <p:spPr>
          <a:xfrm rot="10800000">
            <a:off x="827650" y="3419550"/>
            <a:ext cx="1422000" cy="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g3f4db0dba76_0_31"/>
          <p:cNvSpPr/>
          <p:nvPr/>
        </p:nvSpPr>
        <p:spPr>
          <a:xfrm>
            <a:off x="2342300" y="2471925"/>
            <a:ext cx="1035900" cy="698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liquidity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4db0dba76_0_31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4db0dba76_0_108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4db0dba76_0_108"/>
          <p:cNvSpPr txBox="1"/>
          <p:nvPr/>
        </p:nvSpPr>
        <p:spPr>
          <a:xfrm>
            <a:off x="639800" y="918225"/>
            <a:ext cx="61263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7F69"/>
                </a:solidFill>
                <a:highlight>
                  <a:srgbClr val="FFFFFF"/>
                </a:highlight>
              </a:rPr>
              <a:t>to</a:t>
            </a:r>
            <a:r>
              <a:rPr lang="en-US" sz="36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3600">
                <a:solidFill>
                  <a:schemeClr val="dk1"/>
                </a:solidFill>
                <a:highlight>
                  <a:srgbClr val="FFFFFF"/>
                </a:highlight>
              </a:rPr>
              <a:t>go</a:t>
            </a:r>
            <a:endParaRPr sz="3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000AA"/>
                </a:solidFill>
                <a:highlight>
                  <a:srgbClr val="FFFFFF"/>
                </a:highlight>
              </a:rPr>
              <a:t>if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660096"/>
                </a:solidFill>
                <a:highlight>
                  <a:srgbClr val="FFFFFF"/>
                </a:highlight>
              </a:rPr>
              <a:t>not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bank-alive?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000AA"/>
                </a:solidFill>
                <a:highlight>
                  <a:srgbClr val="FFFFFF"/>
                </a:highlight>
              </a:rPr>
              <a:t>stop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]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update-signal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highlight>
                  <a:srgbClr val="FFFFFF"/>
                </a:highlight>
              </a:rPr>
              <a:t> baseline-noise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agents-decide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bank-manage-liquidity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highlight>
                  <a:srgbClr val="FFFFFF"/>
                </a:highlight>
              </a:rPr>
              <a:t> recolor</a:t>
            </a:r>
            <a:endParaRPr sz="20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000AA"/>
                </a:solidFill>
                <a:highlight>
                  <a:srgbClr val="FFFFFF"/>
                </a:highlight>
              </a:rPr>
              <a:t>tick</a:t>
            </a:r>
            <a:endParaRPr sz="2000">
              <a:solidFill>
                <a:srgbClr val="0000A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F69"/>
                </a:solidFill>
                <a:highlight>
                  <a:srgbClr val="FFFFFF"/>
                </a:highlight>
              </a:rPr>
              <a:t>end</a:t>
            </a:r>
            <a:endParaRPr b="1" sz="2000">
              <a:solidFill>
                <a:srgbClr val="007F69"/>
              </a:solidFill>
              <a:highlight>
                <a:srgbClr val="FFFFFF"/>
              </a:highlight>
            </a:endParaRPr>
          </a:p>
        </p:txBody>
      </p:sp>
      <p:sp>
        <p:nvSpPr>
          <p:cNvPr id="169" name="Google Shape;169;g3f4db0dba76_0_108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4db0dba76_0_57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4db0dba76_0_57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Shock</a:t>
            </a:r>
            <a:endParaRPr b="1" sz="3600">
              <a:solidFill>
                <a:srgbClr val="1A1A1A"/>
              </a:solidFill>
            </a:endParaRPr>
          </a:p>
        </p:txBody>
      </p:sp>
      <p:pic>
        <p:nvPicPr>
          <p:cNvPr id="176" name="Google Shape;176;g3f4db0dba76_0_57" title="Bildschirmfoto 2026-07-13 um 11.54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00" y="1472016"/>
            <a:ext cx="3269768" cy="106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f4db0dba76_0_57" title="Bildschirmfoto 2026-07-13 um 11.58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902" y="2683898"/>
            <a:ext cx="3353025" cy="3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f4db0dba76_0_57" title="Bildschirmfoto 2026-07-13 um 11.54.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570" y="1415799"/>
            <a:ext cx="3714030" cy="122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f4db0dba76_0_57" title="Bildschirmfoto 2026-07-13 um 12.02.18.png"/>
          <p:cNvPicPr preferRelativeResize="0"/>
          <p:nvPr/>
        </p:nvPicPr>
        <p:blipFill rotWithShape="1">
          <a:blip r:embed="rId6">
            <a:alphaModFix/>
          </a:blip>
          <a:srcRect b="0" l="28300" r="0" t="0"/>
          <a:stretch/>
        </p:blipFill>
        <p:spPr>
          <a:xfrm>
            <a:off x="4969775" y="3076612"/>
            <a:ext cx="4010350" cy="76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f4db0dba76_0_57" title="Bildschirmfoto 2026-07-13 um 12.02.18.png"/>
          <p:cNvPicPr preferRelativeResize="0"/>
          <p:nvPr/>
        </p:nvPicPr>
        <p:blipFill rotWithShape="1">
          <a:blip r:embed="rId6">
            <a:alphaModFix/>
          </a:blip>
          <a:srcRect b="27252" l="0" r="70819" t="0"/>
          <a:stretch/>
        </p:blipFill>
        <p:spPr>
          <a:xfrm>
            <a:off x="4969775" y="2466053"/>
            <a:ext cx="2243546" cy="7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f4db0dba76_0_57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4db0dba76_0_136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4db0dba76_0_136"/>
          <p:cNvSpPr txBox="1"/>
          <p:nvPr/>
        </p:nvSpPr>
        <p:spPr>
          <a:xfrm>
            <a:off x="594359" y="906638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update-signal</a:t>
            </a:r>
            <a:endParaRPr b="1" sz="3600">
              <a:solidFill>
                <a:srgbClr val="1A1A1A"/>
              </a:solidFill>
            </a:endParaRPr>
          </a:p>
        </p:txBody>
      </p:sp>
      <p:pic>
        <p:nvPicPr>
          <p:cNvPr id="188" name="Google Shape;188;g3f4db0dba76_0_136" title="Bildschirmfoto 2026-07-13 um 10.55.14.png"/>
          <p:cNvPicPr preferRelativeResize="0"/>
          <p:nvPr/>
        </p:nvPicPr>
        <p:blipFill rotWithShape="1">
          <a:blip r:embed="rId3">
            <a:alphaModFix/>
          </a:blip>
          <a:srcRect b="0" l="0" r="61418" t="0"/>
          <a:stretch/>
        </p:blipFill>
        <p:spPr>
          <a:xfrm>
            <a:off x="454950" y="1553150"/>
            <a:ext cx="2518701" cy="154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ldschirmfoto 2026-06-17 um 11.00.58.png" id="189" name="Google Shape;189;g3f4db0dba76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2500" y="1430600"/>
            <a:ext cx="2680200" cy="31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4db0dba76_0_136" title="Bildschirmfoto 2026-07-13 um 10.55.14.png"/>
          <p:cNvPicPr preferRelativeResize="0"/>
          <p:nvPr/>
        </p:nvPicPr>
        <p:blipFill rotWithShape="1">
          <a:blip r:embed="rId3">
            <a:alphaModFix/>
          </a:blip>
          <a:srcRect b="0" l="38916" r="0" t="27959"/>
          <a:stretch/>
        </p:blipFill>
        <p:spPr>
          <a:xfrm>
            <a:off x="650500" y="2799422"/>
            <a:ext cx="3987574" cy="11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4db0dba76_0_136"/>
          <p:cNvSpPr txBox="1"/>
          <p:nvPr/>
        </p:nvSpPr>
        <p:spPr>
          <a:xfrm>
            <a:off x="7585150" y="4170075"/>
            <a:ext cx="146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liquidity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4db0dba76_0_136"/>
          <p:cNvSpPr txBox="1"/>
          <p:nvPr/>
        </p:nvSpPr>
        <p:spPr>
          <a:xfrm>
            <a:off x="5308400" y="1430600"/>
            <a:ext cx="96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signal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4db0dba76_0_136"/>
          <p:cNvSpPr/>
          <p:nvPr/>
        </p:nvSpPr>
        <p:spPr>
          <a:xfrm rot="3123138">
            <a:off x="2931579" y="1853093"/>
            <a:ext cx="456141" cy="64637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4db0dba76_0_136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f4db0dba76_0_154" title="Bildschirmfoto 2026-07-13 um 12.12.36.png"/>
          <p:cNvPicPr preferRelativeResize="0"/>
          <p:nvPr/>
        </p:nvPicPr>
        <p:blipFill rotWithShape="1">
          <a:blip r:embed="rId3">
            <a:alphaModFix/>
          </a:blip>
          <a:srcRect b="19879" l="0" r="0" t="3779"/>
          <a:stretch/>
        </p:blipFill>
        <p:spPr>
          <a:xfrm>
            <a:off x="201763" y="339238"/>
            <a:ext cx="8740475" cy="43396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4db0dba76_0_154"/>
          <p:cNvSpPr/>
          <p:nvPr/>
        </p:nvSpPr>
        <p:spPr>
          <a:xfrm>
            <a:off x="1182425" y="1178725"/>
            <a:ext cx="442800" cy="309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db0dba76_0_148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4db0dba76_0_148"/>
          <p:cNvSpPr txBox="1"/>
          <p:nvPr/>
        </p:nvSpPr>
        <p:spPr>
          <a:xfrm>
            <a:off x="639800" y="918225"/>
            <a:ext cx="77163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007F69"/>
                </a:solidFill>
                <a:highlight>
                  <a:srgbClr val="FFFFFF"/>
                </a:highlight>
              </a:rPr>
              <a:t>to</a:t>
            </a:r>
            <a:r>
              <a:rPr lang="en-US" sz="36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3600">
                <a:solidFill>
                  <a:schemeClr val="dk1"/>
                </a:solidFill>
                <a:highlight>
                  <a:srgbClr val="FFFFFF"/>
                </a:highlight>
              </a:rPr>
              <a:t>go-exp</a:t>
            </a:r>
            <a:endParaRPr sz="3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if not bank-alive? [ stop ]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0000AA"/>
                </a:solidFill>
                <a:highlight>
                  <a:srgbClr val="FFFFFF"/>
                </a:highlight>
              </a:rPr>
              <a:t>if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660096"/>
                </a:solidFill>
                <a:highlight>
                  <a:srgbClr val="FFFFFF"/>
                </a:highlight>
              </a:rPr>
              <a:t>ticks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660096"/>
                </a:solidFill>
                <a:highlight>
                  <a:srgbClr val="FFFFFF"/>
                </a:highlight>
              </a:rPr>
              <a:t>=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warmup-ticks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shock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]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       </a:t>
            </a:r>
            <a:r>
              <a:rPr lang="en-US" sz="1800">
                <a:solidFill>
                  <a:srgbClr val="787878"/>
                </a:solidFill>
                <a:highlight>
                  <a:srgbClr val="FFFFFF"/>
                </a:highlight>
              </a:rPr>
              <a:t>;; deterministic =0-shock</a:t>
            </a:r>
            <a:endParaRPr sz="1800">
              <a:solidFill>
                <a:srgbClr val="78787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update-signal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baseline-noise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agents-decide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bank-manage-liquidity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if frac-withdrawn &gt; peak-withdrawn [ set peak-withdrawn frac-withdrawn ]  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highlight>
                  <a:srgbClr val="FFFFFF"/>
                </a:highlight>
              </a:rPr>
              <a:t> recolor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0000AA"/>
                </a:solidFill>
                <a:highlight>
                  <a:srgbClr val="FFFFFF"/>
                </a:highlight>
              </a:rPr>
              <a:t>tick</a:t>
            </a:r>
            <a:endParaRPr sz="1800">
              <a:solidFill>
                <a:srgbClr val="0000A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07F69"/>
                </a:solidFill>
                <a:highlight>
                  <a:srgbClr val="FFFFFF"/>
                </a:highlight>
              </a:rPr>
              <a:t>end</a:t>
            </a:r>
            <a:endParaRPr b="1" sz="1800">
              <a:solidFill>
                <a:srgbClr val="007F6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007F69"/>
              </a:solidFill>
              <a:highlight>
                <a:srgbClr val="FFFFFF"/>
              </a:highlight>
            </a:endParaRPr>
          </a:p>
        </p:txBody>
      </p:sp>
      <p:sp>
        <p:nvSpPr>
          <p:cNvPr id="207" name="Google Shape;207;g3f4db0dba76_0_148"/>
          <p:cNvSpPr txBox="1"/>
          <p:nvPr/>
        </p:nvSpPr>
        <p:spPr>
          <a:xfrm>
            <a:off x="594360" y="607452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03  MODELL-SETUP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548640" y="475487"/>
            <a:ext cx="8046719" cy="36578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94360" y="607451"/>
            <a:ext cx="7955279" cy="20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Behavioral Space</a:t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502850" y="1516525"/>
            <a:ext cx="80466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Parameters: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variables examined: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avg-connections (2 -&gt; 20, step: 1)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fundamental-shock {false, true}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lolr-active? {false, true}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other variables constant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4d625648f_1_4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4d625648f_1_4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22" name="Google Shape;222;g3f4d625648f_1_4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Behavioral Space</a:t>
            </a:r>
            <a:endParaRPr/>
          </a:p>
        </p:txBody>
      </p:sp>
      <p:sp>
        <p:nvSpPr>
          <p:cNvPr id="223" name="Google Shape;223;g3f4d625648f_1_4"/>
          <p:cNvSpPr txBox="1"/>
          <p:nvPr/>
        </p:nvSpPr>
        <p:spPr>
          <a:xfrm>
            <a:off x="502850" y="1516525"/>
            <a:ext cx="80466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Run 1: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reserve-ratio = (0.02, 0.04, 0.06); shock-size = 0.6; risk-threshold = 0.2; watcher-share = 0.05; repetitions = 50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Results: lethal instantly 95%-100% =&gt; not informative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Run 2: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reserve-ratio = (0.12, 0.16, 0.20); shock-size = 0.5; risk-threshold = 0.12; watcher-share = 0.20; repetitions = 50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Changes: watcher-share + reserve size =&gt; lethal through cascade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 clean, falling gradient over avg-connections; both shocks and Lolr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4d625648f_1_13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4d625648f_1_13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30" name="Google Shape;230;g3f4d625648f_1_13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Behavioral Space</a:t>
            </a:r>
            <a:endParaRPr/>
          </a:p>
        </p:txBody>
      </p:sp>
      <p:sp>
        <p:nvSpPr>
          <p:cNvPr id="231" name="Google Shape;231;g3f4d625648f_1_13"/>
          <p:cNvSpPr txBox="1"/>
          <p:nvPr/>
        </p:nvSpPr>
        <p:spPr>
          <a:xfrm>
            <a:off x="502850" y="1516525"/>
            <a:ext cx="80466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Run 3: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reserve-ratio = (0.14, 0.16, 0.18); shock-size = 0.5; risk-threshold = 0.12; watcher-share = 0.20; repetitions = 100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Changes: centred around reserve-ratio of 0.16;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repetitions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doubled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Goal: centred, smooth transition, halved CI-width, cleaner variance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4d625648f_1_23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4d625648f_1_23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38" name="Google Shape;238;g3f4d625648f_1_23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Results</a:t>
            </a:r>
            <a:endParaRPr/>
          </a:p>
        </p:txBody>
      </p:sp>
      <p:pic>
        <p:nvPicPr>
          <p:cNvPr id="239" name="Google Shape;239;g3f4d625648f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863" y="1553139"/>
            <a:ext cx="5376375" cy="328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4d625648f_1_31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4d625648f_1_31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46" name="Google Shape;246;g3f4d625648f_1_31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Results</a:t>
            </a:r>
            <a:endParaRPr/>
          </a:p>
        </p:txBody>
      </p:sp>
      <p:pic>
        <p:nvPicPr>
          <p:cNvPr id="247" name="Google Shape;247;g3f4d625648f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575" y="1636939"/>
            <a:ext cx="7301248" cy="328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4d625648f_1_40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4d625648f_1_40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54" name="Google Shape;254;g3f4d625648f_1_40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Results</a:t>
            </a:r>
            <a:endParaRPr/>
          </a:p>
        </p:txBody>
      </p:sp>
      <p:pic>
        <p:nvPicPr>
          <p:cNvPr id="255" name="Google Shape;255;g3f4d625648f_1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013" y="1718739"/>
            <a:ext cx="5376375" cy="328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4d625648f_1_47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4d625648f_1_47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62" name="Google Shape;262;g3f4d625648f_1_47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Results</a:t>
            </a:r>
            <a:endParaRPr/>
          </a:p>
        </p:txBody>
      </p:sp>
      <p:pic>
        <p:nvPicPr>
          <p:cNvPr id="263" name="Google Shape;263;g3f4d625648f_1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38" y="1636939"/>
            <a:ext cx="7392515" cy="328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4d625648f_1_53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4d625648f_1_53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70" name="Google Shape;270;g3f4d625648f_1_53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Results</a:t>
            </a:r>
            <a:endParaRPr/>
          </a:p>
        </p:txBody>
      </p:sp>
      <p:pic>
        <p:nvPicPr>
          <p:cNvPr id="271" name="Google Shape;271;g3f4d625648f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88" y="1636939"/>
            <a:ext cx="7700535" cy="328556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f4d625648f_1_53"/>
          <p:cNvSpPr txBox="1"/>
          <p:nvPr/>
        </p:nvSpPr>
        <p:spPr>
          <a:xfrm>
            <a:off x="7048500" y="4116925"/>
            <a:ext cx="1037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n=30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4d625648f_1_59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4d625648f_1_59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04 Results</a:t>
            </a:r>
            <a:endParaRPr/>
          </a:p>
        </p:txBody>
      </p:sp>
      <p:sp>
        <p:nvSpPr>
          <p:cNvPr id="279" name="Google Shape;279;g3f4d625648f_1_59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A1A1A"/>
                </a:solidFill>
              </a:rPr>
              <a:t>Results</a:t>
            </a:r>
            <a:endParaRPr/>
          </a:p>
        </p:txBody>
      </p:sp>
      <p:pic>
        <p:nvPicPr>
          <p:cNvPr id="280" name="Google Shape;280;g3f4d625648f_1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234" y="1079550"/>
            <a:ext cx="3727628" cy="39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f4d625648f_1_59"/>
          <p:cNvSpPr txBox="1"/>
          <p:nvPr/>
        </p:nvSpPr>
        <p:spPr>
          <a:xfrm>
            <a:off x="5073725" y="971025"/>
            <a:ext cx="17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fundamental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shock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548640" y="475487"/>
            <a:ext cx="8046719" cy="36578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594360" y="607451"/>
            <a:ext cx="7955279" cy="20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05 Sources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594359" y="906639"/>
            <a:ext cx="7223760" cy="609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623600" y="1616475"/>
            <a:ext cx="8005500" cy="3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Deng, J., Yu, T., &amp; Li, H. (2010). Bank runs in a local interaction model. </a:t>
            </a:r>
            <a:r>
              <a:rPr i="1" lang="en-US" sz="1200">
                <a:solidFill>
                  <a:schemeClr val="dk1"/>
                </a:solidFill>
              </a:rPr>
              <a:t>Physics Procedia, 3</a:t>
            </a:r>
            <a:r>
              <a:rPr lang="en-US" sz="1200">
                <a:solidFill>
                  <a:schemeClr val="dk1"/>
                </a:solidFill>
              </a:rPr>
              <a:t>(5), 1687–1697.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Diamond, D. W., &amp; Dybvig, P. H. (1983). Bank runs, deposit insurance, and liquidity. </a:t>
            </a:r>
            <a:r>
              <a:rPr i="1" lang="en-US" sz="1200">
                <a:solidFill>
                  <a:schemeClr val="dk1"/>
                </a:solidFill>
              </a:rPr>
              <a:t>Journal of Political Economy, 91</a:t>
            </a:r>
            <a:r>
              <a:rPr lang="en-US" sz="1200">
                <a:solidFill>
                  <a:schemeClr val="dk1"/>
                </a:solidFill>
              </a:rPr>
              <a:t>(3), 401–419.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Elias, C. J. (2025). Bank runs via social networks. </a:t>
            </a:r>
            <a:r>
              <a:rPr i="1" lang="en-US" sz="1200">
                <a:solidFill>
                  <a:schemeClr val="dk1"/>
                </a:solidFill>
              </a:rPr>
              <a:t>Journal of Economic Interaction and Coordination, 20</a:t>
            </a:r>
            <a:r>
              <a:rPr lang="en-US" sz="1200">
                <a:solidFill>
                  <a:schemeClr val="dk1"/>
                </a:solidFill>
              </a:rPr>
              <a:t>, 1045–1066.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Huang, W., &amp; Huang, Q. (2018). Connectionist agent-based learning in bank-run decision making. </a:t>
            </a:r>
            <a:r>
              <a:rPr i="1" lang="en-US" sz="1200">
                <a:solidFill>
                  <a:schemeClr val="dk1"/>
                </a:solidFill>
              </a:rPr>
              <a:t>Chaos: An Interdisciplinary Journal of Nonlinear Science, 28</a:t>
            </a:r>
            <a:r>
              <a:rPr lang="en-US" sz="1200">
                <a:solidFill>
                  <a:schemeClr val="dk1"/>
                </a:solidFill>
              </a:rPr>
              <a:t>(5), Article 055910.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Metrick, Andrew. 2024. "The Failure of Silicon Valley Bank and the Panic of 2023." Journal of Economic Perspectives 38 (1): 133–52.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524ac2e5a_0_1"/>
          <p:cNvSpPr/>
          <p:nvPr/>
        </p:nvSpPr>
        <p:spPr>
          <a:xfrm>
            <a:off x="548640" y="475487"/>
            <a:ext cx="8046600" cy="36600"/>
          </a:xfrm>
          <a:prstGeom prst="rect">
            <a:avLst/>
          </a:prstGeom>
          <a:solidFill>
            <a:srgbClr val="D63B1F"/>
          </a:solidFill>
          <a:ln cap="flat" cmpd="sng" w="12700">
            <a:solidFill>
              <a:srgbClr val="D63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524ac2e5a_0_1"/>
          <p:cNvSpPr txBox="1"/>
          <p:nvPr/>
        </p:nvSpPr>
        <p:spPr>
          <a:xfrm>
            <a:off x="594360" y="607451"/>
            <a:ext cx="79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05 Sources</a:t>
            </a:r>
            <a:endParaRPr/>
          </a:p>
        </p:txBody>
      </p:sp>
      <p:sp>
        <p:nvSpPr>
          <p:cNvPr id="296" name="Google Shape;296;g3f524ac2e5a_0_1"/>
          <p:cNvSpPr txBox="1"/>
          <p:nvPr/>
        </p:nvSpPr>
        <p:spPr>
          <a:xfrm>
            <a:off x="594359" y="906639"/>
            <a:ext cx="722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297" name="Google Shape;297;g3f524ac2e5a_0_1"/>
          <p:cNvSpPr txBox="1"/>
          <p:nvPr/>
        </p:nvSpPr>
        <p:spPr>
          <a:xfrm>
            <a:off x="623600" y="1616475"/>
            <a:ext cx="8005500" cy="3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Ruano, C., &amp; Rajan, S. (2026). </a:t>
            </a:r>
            <a:r>
              <a:rPr i="1" lang="en-US" sz="1200">
                <a:solidFill>
                  <a:schemeClr val="dk1"/>
                </a:solidFill>
              </a:rPr>
              <a:t>Social contagion and bank runs: An agent-based model with LLM depositors</a:t>
            </a:r>
            <a:r>
              <a:rPr lang="en-US" sz="1200">
                <a:solidFill>
                  <a:schemeClr val="dk1"/>
                </a:solidFill>
              </a:rPr>
              <a:t> (arXiv:2602.15066). 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Santos, T., &amp; Nakane, M. I. (2021). Dynamic bank runs: An agent-based approach. </a:t>
            </a:r>
            <a:r>
              <a:rPr i="1" lang="en-US" sz="1200">
                <a:solidFill>
                  <a:schemeClr val="dk1"/>
                </a:solidFill>
              </a:rPr>
              <a:t>Journal of Economic Interaction and Coordination, 16</a:t>
            </a:r>
            <a:r>
              <a:rPr lang="en-US" sz="1200">
                <a:solidFill>
                  <a:schemeClr val="dk1"/>
                </a:solidFill>
              </a:rPr>
              <a:t>, 675–703.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Vanberg, C. (2026). Vorlesung: </a:t>
            </a:r>
            <a:r>
              <a:rPr i="1" lang="en-US" sz="1200">
                <a:solidFill>
                  <a:schemeClr val="dk1"/>
                </a:solidFill>
              </a:rPr>
              <a:t>An introduction to agent-based modeling for economists </a:t>
            </a:r>
            <a:r>
              <a:rPr lang="en-US" sz="1200">
                <a:solidFill>
                  <a:schemeClr val="dk1"/>
                </a:solidFill>
              </a:rPr>
              <a:t>. Alfred-Weber-Institut für Wirtschaftswissenschaften, Universität Heidelberg.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Wilensky, U. (1999). </a:t>
            </a:r>
            <a:r>
              <a:rPr i="1" lang="en-US" sz="1200">
                <a:solidFill>
                  <a:schemeClr val="dk1"/>
                </a:solidFill>
              </a:rPr>
              <a:t>NetLogo user manual</a:t>
            </a:r>
            <a:r>
              <a:rPr lang="en-US" sz="1200">
                <a:solidFill>
                  <a:schemeClr val="dk1"/>
                </a:solidFill>
              </a:rPr>
              <a:t>. Center for Connected Learning and Computer-Based Modeling, Northwestern University, Evanston, IL.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