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AGENT-BASED MODELING  ·  SS 2026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94359" y="1151168"/>
            <a:ext cx="6309361" cy="226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7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Bank Run</a:t>
            </a:r>
          </a:p>
          <a:p>
            <a:pPr>
              <a:defRPr b="1" sz="7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Simulation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94359" y="3555767"/>
            <a:ext cx="67665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Agent-Based Contagion via Social Networks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594360" y="4456641"/>
            <a:ext cx="6766560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 Haenicke &amp; Moritz Graemer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  FORSCHUNGSFRAGE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594359" y="906638"/>
            <a:ext cx="72237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Research Question</a:t>
            </a:r>
          </a:p>
        </p:txBody>
      </p:sp>
      <p:sp>
        <p:nvSpPr>
          <p:cNvPr id="29" name="Shape 3"/>
          <p:cNvSpPr/>
          <p:nvPr/>
        </p:nvSpPr>
        <p:spPr>
          <a:xfrm>
            <a:off x="548640" y="1627632"/>
            <a:ext cx="8046719" cy="1207009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4"/>
          <p:cNvSpPr txBox="1"/>
          <p:nvPr/>
        </p:nvSpPr>
        <p:spPr>
          <a:xfrm>
            <a:off x="850391" y="1904651"/>
            <a:ext cx="7443218" cy="652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How do noisy signals about bank solvency propagate through a social network</a:t>
            </a:r>
          </a:p>
          <a:p>
            <a:pPr>
              <a:lnSpc>
                <a:spcPct val="150000"/>
              </a:lnSpc>
              <a:defRPr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and when does rumour-driven withdrawal deplete the bank's liquidity?</a:t>
            </a:r>
          </a:p>
        </p:txBody>
      </p:sp>
      <p:sp>
        <p:nvSpPr>
          <p:cNvPr id="31" name="Shape 5"/>
          <p:cNvSpPr/>
          <p:nvPr/>
        </p:nvSpPr>
        <p:spPr>
          <a:xfrm>
            <a:off x="548640" y="3062732"/>
            <a:ext cx="2578608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6"/>
          <p:cNvSpPr txBox="1"/>
          <p:nvPr/>
        </p:nvSpPr>
        <p:spPr>
          <a:xfrm>
            <a:off x="594359" y="3223051"/>
            <a:ext cx="256033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33" name="Text 7"/>
          <p:cNvSpPr txBox="1"/>
          <p:nvPr/>
        </p:nvSpPr>
        <p:spPr>
          <a:xfrm>
            <a:off x="960119" y="3198274"/>
            <a:ext cx="2084834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Contagion</a:t>
            </a:r>
          </a:p>
        </p:txBody>
      </p:sp>
      <p:sp>
        <p:nvSpPr>
          <p:cNvPr id="34" name="Text 8"/>
          <p:cNvSpPr txBox="1"/>
          <p:nvPr/>
        </p:nvSpPr>
        <p:spPr>
          <a:xfrm>
            <a:off x="594360" y="3600347"/>
            <a:ext cx="2487168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calm → concerned → withdraw</a:t>
            </a:r>
          </a:p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propagates via weighted social links</a:t>
            </a:r>
          </a:p>
        </p:txBody>
      </p:sp>
      <p:sp>
        <p:nvSpPr>
          <p:cNvPr id="35" name="Shape 9"/>
          <p:cNvSpPr/>
          <p:nvPr/>
        </p:nvSpPr>
        <p:spPr>
          <a:xfrm>
            <a:off x="3337559" y="3062732"/>
            <a:ext cx="2578609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0"/>
          <p:cNvSpPr txBox="1"/>
          <p:nvPr/>
        </p:nvSpPr>
        <p:spPr>
          <a:xfrm>
            <a:off x="3383279" y="3223051"/>
            <a:ext cx="256033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II</a:t>
            </a:r>
          </a:p>
        </p:txBody>
      </p:sp>
      <p:sp>
        <p:nvSpPr>
          <p:cNvPr id="37" name="Text 11"/>
          <p:cNvSpPr txBox="1"/>
          <p:nvPr/>
        </p:nvSpPr>
        <p:spPr>
          <a:xfrm>
            <a:off x="3749040" y="3198274"/>
            <a:ext cx="208483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Balance</a:t>
            </a:r>
          </a:p>
        </p:txBody>
      </p:sp>
      <p:sp>
        <p:nvSpPr>
          <p:cNvPr id="38" name="Text 12"/>
          <p:cNvSpPr txBox="1"/>
          <p:nvPr/>
        </p:nvSpPr>
        <p:spPr>
          <a:xfrm>
            <a:off x="3383279" y="3600347"/>
            <a:ext cx="2487169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reserve ratio determines when</a:t>
            </a:r>
          </a:p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withdrawals trigger illiquidity</a:t>
            </a:r>
          </a:p>
        </p:txBody>
      </p:sp>
      <p:sp>
        <p:nvSpPr>
          <p:cNvPr id="39" name="Shape 13"/>
          <p:cNvSpPr/>
          <p:nvPr/>
        </p:nvSpPr>
        <p:spPr>
          <a:xfrm>
            <a:off x="6126479" y="3062732"/>
            <a:ext cx="2578609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4"/>
          <p:cNvSpPr txBox="1"/>
          <p:nvPr/>
        </p:nvSpPr>
        <p:spPr>
          <a:xfrm>
            <a:off x="6172200" y="3223051"/>
            <a:ext cx="2560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III</a:t>
            </a:r>
          </a:p>
        </p:txBody>
      </p:sp>
      <p:sp>
        <p:nvSpPr>
          <p:cNvPr id="41" name="Text 15"/>
          <p:cNvSpPr txBox="1"/>
          <p:nvPr/>
        </p:nvSpPr>
        <p:spPr>
          <a:xfrm>
            <a:off x="6537959" y="3198274"/>
            <a:ext cx="208483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 Loop</a:t>
            </a:r>
          </a:p>
        </p:txBody>
      </p:sp>
      <p:sp>
        <p:nvSpPr>
          <p:cNvPr id="42" name="Text 16"/>
          <p:cNvSpPr txBox="1"/>
          <p:nvPr/>
        </p:nvSpPr>
        <p:spPr>
          <a:xfrm>
            <a:off x="6172200" y="3494581"/>
            <a:ext cx="2487168" cy="66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declining balance amplifies rumours;</a:t>
            </a:r>
          </a:p>
          <a:p>
            <a:pPr>
              <a:lnSpc>
                <a:spcPct val="140000"/>
              </a:lnSpc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deposit insurance dampens the spread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  MODELL-SETUP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594359" y="906638"/>
            <a:ext cx="72237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Story</a:t>
            </a:r>
          </a:p>
        </p:txBody>
      </p:sp>
      <p:sp>
        <p:nvSpPr>
          <p:cNvPr id="47" name="Shape 3"/>
          <p:cNvSpPr/>
          <p:nvPr/>
        </p:nvSpPr>
        <p:spPr>
          <a:xfrm>
            <a:off x="4633315" y="1645920"/>
            <a:ext cx="12701" cy="299923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4"/>
          <p:cNvSpPr txBox="1"/>
          <p:nvPr/>
        </p:nvSpPr>
        <p:spPr>
          <a:xfrm>
            <a:off x="594360" y="1677299"/>
            <a:ext cx="37490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BANK</a:t>
            </a:r>
          </a:p>
        </p:txBody>
      </p:sp>
      <p:sp>
        <p:nvSpPr>
          <p:cNvPr id="49" name="Text 5"/>
          <p:cNvSpPr txBox="1"/>
          <p:nvPr/>
        </p:nvSpPr>
        <p:spPr>
          <a:xfrm>
            <a:off x="594359" y="2083722"/>
            <a:ext cx="384048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Holds all deposits of agents</a:t>
            </a:r>
          </a:p>
        </p:txBody>
      </p:sp>
      <p:sp>
        <p:nvSpPr>
          <p:cNvPr id="50" name="Shape 6"/>
          <p:cNvSpPr/>
          <p:nvPr/>
        </p:nvSpPr>
        <p:spPr>
          <a:xfrm>
            <a:off x="548639" y="2468879"/>
            <a:ext cx="3931922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7"/>
          <p:cNvSpPr txBox="1"/>
          <p:nvPr/>
        </p:nvSpPr>
        <p:spPr>
          <a:xfrm>
            <a:off x="594359" y="2540922"/>
            <a:ext cx="384048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x % kept liquid as reserve ratio</a:t>
            </a:r>
          </a:p>
        </p:txBody>
      </p:sp>
      <p:sp>
        <p:nvSpPr>
          <p:cNvPr id="52" name="Shape 8"/>
          <p:cNvSpPr/>
          <p:nvPr/>
        </p:nvSpPr>
        <p:spPr>
          <a:xfrm>
            <a:off x="548639" y="2926079"/>
            <a:ext cx="3931922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9"/>
          <p:cNvSpPr txBox="1"/>
          <p:nvPr/>
        </p:nvSpPr>
        <p:spPr>
          <a:xfrm>
            <a:off x="594359" y="2998122"/>
            <a:ext cx="384048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(1–x) % locked in long-term assets</a:t>
            </a:r>
          </a:p>
        </p:txBody>
      </p:sp>
      <p:sp>
        <p:nvSpPr>
          <p:cNvPr id="54" name="Shape 10"/>
          <p:cNvSpPr/>
          <p:nvPr/>
        </p:nvSpPr>
        <p:spPr>
          <a:xfrm>
            <a:off x="548639" y="3383279"/>
            <a:ext cx="3931922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11"/>
          <p:cNvSpPr txBox="1"/>
          <p:nvPr/>
        </p:nvSpPr>
        <p:spPr>
          <a:xfrm>
            <a:off x="594359" y="3455322"/>
            <a:ext cx="384048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Solvency determined by banks behaviour</a:t>
            </a:r>
          </a:p>
        </p:txBody>
      </p:sp>
      <p:sp>
        <p:nvSpPr>
          <p:cNvPr id="56" name="Shape 12"/>
          <p:cNvSpPr/>
          <p:nvPr/>
        </p:nvSpPr>
        <p:spPr>
          <a:xfrm>
            <a:off x="548639" y="3840479"/>
            <a:ext cx="3931922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3"/>
          <p:cNvSpPr txBox="1"/>
          <p:nvPr/>
        </p:nvSpPr>
        <p:spPr>
          <a:xfrm>
            <a:off x="594359" y="3912522"/>
            <a:ext cx="384048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Collapses when liquidity &lt; withdrawals</a:t>
            </a:r>
          </a:p>
        </p:txBody>
      </p:sp>
      <p:sp>
        <p:nvSpPr>
          <p:cNvPr id="58" name="Text 14"/>
          <p:cNvSpPr txBox="1"/>
          <p:nvPr/>
        </p:nvSpPr>
        <p:spPr>
          <a:xfrm>
            <a:off x="4873752" y="1677299"/>
            <a:ext cx="37490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SIGNALS &amp; AGENTS</a:t>
            </a:r>
          </a:p>
        </p:txBody>
      </p:sp>
      <p:sp>
        <p:nvSpPr>
          <p:cNvPr id="59" name="Text 15"/>
          <p:cNvSpPr txBox="1"/>
          <p:nvPr/>
        </p:nvSpPr>
        <p:spPr>
          <a:xfrm>
            <a:off x="4873752" y="2065434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Exogenous noisy signal → Watchers</a:t>
            </a:r>
          </a:p>
        </p:txBody>
      </p:sp>
      <p:sp>
        <p:nvSpPr>
          <p:cNvPr id="60" name="Shape 16"/>
          <p:cNvSpPr/>
          <p:nvPr/>
        </p:nvSpPr>
        <p:spPr>
          <a:xfrm>
            <a:off x="4828032" y="2432304"/>
            <a:ext cx="3767329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7"/>
          <p:cNvSpPr txBox="1"/>
          <p:nvPr/>
        </p:nvSpPr>
        <p:spPr>
          <a:xfrm>
            <a:off x="4873752" y="2486058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Watchers: receive external signal</a:t>
            </a:r>
          </a:p>
        </p:txBody>
      </p:sp>
      <p:sp>
        <p:nvSpPr>
          <p:cNvPr id="62" name="Shape 18"/>
          <p:cNvSpPr/>
          <p:nvPr/>
        </p:nvSpPr>
        <p:spPr>
          <a:xfrm>
            <a:off x="4828032" y="2852927"/>
            <a:ext cx="3767329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9"/>
          <p:cNvSpPr txBox="1"/>
          <p:nvPr/>
        </p:nvSpPr>
        <p:spPr>
          <a:xfrm>
            <a:off x="4873752" y="2906682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Sleepers: only hear from neighbours</a:t>
            </a:r>
          </a:p>
        </p:txBody>
      </p:sp>
      <p:sp>
        <p:nvSpPr>
          <p:cNvPr id="64" name="Shape 20"/>
          <p:cNvSpPr/>
          <p:nvPr/>
        </p:nvSpPr>
        <p:spPr>
          <a:xfrm>
            <a:off x="4828032" y="3273552"/>
            <a:ext cx="3767329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1"/>
          <p:cNvSpPr txBox="1"/>
          <p:nvPr/>
        </p:nvSpPr>
        <p:spPr>
          <a:xfrm>
            <a:off x="4873752" y="3327306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Insiders (20%): direct health access</a:t>
            </a:r>
          </a:p>
        </p:txBody>
      </p:sp>
      <p:sp>
        <p:nvSpPr>
          <p:cNvPr id="66" name="Shape 22"/>
          <p:cNvSpPr/>
          <p:nvPr/>
        </p:nvSpPr>
        <p:spPr>
          <a:xfrm>
            <a:off x="4828032" y="3694176"/>
            <a:ext cx="3767329" cy="1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23"/>
          <p:cNvSpPr txBox="1"/>
          <p:nvPr/>
        </p:nvSpPr>
        <p:spPr>
          <a:xfrm>
            <a:off x="4873752" y="3747930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Signals weighted by sender credibility</a:t>
            </a:r>
          </a:p>
        </p:txBody>
      </p:sp>
      <p:sp>
        <p:nvSpPr>
          <p:cNvPr id="68" name="Shape 24"/>
          <p:cNvSpPr/>
          <p:nvPr/>
        </p:nvSpPr>
        <p:spPr>
          <a:xfrm>
            <a:off x="4828032" y="4114800"/>
            <a:ext cx="3767329" cy="0"/>
          </a:xfrm>
          <a:prstGeom prst="line">
            <a:avLst/>
          </a:prstGeom>
          <a:ln w="381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5"/>
          <p:cNvSpPr txBox="1"/>
          <p:nvPr/>
        </p:nvSpPr>
        <p:spPr>
          <a:xfrm>
            <a:off x="4873752" y="4168554"/>
            <a:ext cx="367588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reduces bank liquidity</a:t>
            </a:r>
          </a:p>
        </p:txBody>
      </p:sp>
      <p:sp>
        <p:nvSpPr>
          <p:cNvPr id="70" name="Shape 26"/>
          <p:cNvSpPr/>
          <p:nvPr/>
        </p:nvSpPr>
        <p:spPr>
          <a:xfrm>
            <a:off x="548640" y="4736591"/>
            <a:ext cx="8046719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Bildschirmfoto 2026-06-16 um 14.44.28.png" descr="Bildschirmfoto 2026-06-16 um 14.44.28.png"/>
          <p:cNvPicPr>
            <a:picLocks noChangeAspect="1"/>
          </p:cNvPicPr>
          <p:nvPr/>
        </p:nvPicPr>
        <p:blipFill>
          <a:blip r:embed="rId2">
            <a:extLst/>
          </a:blip>
          <a:srcRect l="247" t="3702" r="41813" b="38527"/>
          <a:stretch>
            <a:fillRect/>
          </a:stretch>
        </p:blipFill>
        <p:spPr>
          <a:xfrm>
            <a:off x="1167412" y="51674"/>
            <a:ext cx="5865257" cy="3803232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22"/>
          <p:cNvSpPr txBox="1"/>
          <p:nvPr/>
        </p:nvSpPr>
        <p:spPr>
          <a:xfrm>
            <a:off x="7472402" y="2470541"/>
            <a:ext cx="59436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STATES:</a:t>
            </a:r>
          </a:p>
        </p:txBody>
      </p:sp>
      <p:sp>
        <p:nvSpPr>
          <p:cNvPr id="74" name="Shape 23"/>
          <p:cNvSpPr/>
          <p:nvPr/>
        </p:nvSpPr>
        <p:spPr>
          <a:xfrm>
            <a:off x="7499551" y="2785346"/>
            <a:ext cx="91441" cy="91441"/>
          </a:xfrm>
          <a:prstGeom prst="rect">
            <a:avLst/>
          </a:prstGeom>
          <a:gradFill>
            <a:gsLst>
              <a:gs pos="0">
                <a:srgbClr val="70A6DB"/>
              </a:gs>
              <a:gs pos="50000">
                <a:srgbClr val="559BDB"/>
              </a:gs>
              <a:gs pos="100000">
                <a:srgbClr val="448AC9"/>
              </a:gs>
            </a:gsLst>
            <a:lin ang="5400000"/>
          </a:gradFill>
          <a:ln w="635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" name="Text 24"/>
          <p:cNvSpPr txBox="1"/>
          <p:nvPr/>
        </p:nvSpPr>
        <p:spPr>
          <a:xfrm>
            <a:off x="7673287" y="2735861"/>
            <a:ext cx="77724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calm</a:t>
            </a:r>
          </a:p>
        </p:txBody>
      </p:sp>
      <p:sp>
        <p:nvSpPr>
          <p:cNvPr id="76" name="Shape 25"/>
          <p:cNvSpPr/>
          <p:nvPr/>
        </p:nvSpPr>
        <p:spPr>
          <a:xfrm>
            <a:off x="7500077" y="3118174"/>
            <a:ext cx="91441" cy="91441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17232"/>
            </a:solidFill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" name="Text 26"/>
          <p:cNvSpPr txBox="1"/>
          <p:nvPr/>
        </p:nvSpPr>
        <p:spPr>
          <a:xfrm>
            <a:off x="7673812" y="3068689"/>
            <a:ext cx="77724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concerned</a:t>
            </a:r>
          </a:p>
        </p:txBody>
      </p:sp>
      <p:sp>
        <p:nvSpPr>
          <p:cNvPr id="78" name="Shape 27"/>
          <p:cNvSpPr/>
          <p:nvPr/>
        </p:nvSpPr>
        <p:spPr>
          <a:xfrm>
            <a:off x="7503857" y="3451001"/>
            <a:ext cx="91441" cy="91441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8"/>
          <p:cNvSpPr txBox="1"/>
          <p:nvPr/>
        </p:nvSpPr>
        <p:spPr>
          <a:xfrm>
            <a:off x="7677594" y="3401517"/>
            <a:ext cx="77724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  PSEUDOCODE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594359" y="906638"/>
            <a:ext cx="72237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Decision Loop</a:t>
            </a:r>
          </a:p>
        </p:txBody>
      </p:sp>
      <p:sp>
        <p:nvSpPr>
          <p:cNvPr id="84" name="Shape 3"/>
          <p:cNvSpPr/>
          <p:nvPr/>
        </p:nvSpPr>
        <p:spPr>
          <a:xfrm>
            <a:off x="548640" y="1664207"/>
            <a:ext cx="8229601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4"/>
          <p:cNvSpPr txBox="1"/>
          <p:nvPr/>
        </p:nvSpPr>
        <p:spPr>
          <a:xfrm>
            <a:off x="704087" y="1794601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SETUP</a:t>
            </a:r>
          </a:p>
        </p:txBody>
      </p:sp>
      <p:sp>
        <p:nvSpPr>
          <p:cNvPr id="86" name="Shape 5"/>
          <p:cNvSpPr/>
          <p:nvPr/>
        </p:nvSpPr>
        <p:spPr>
          <a:xfrm>
            <a:off x="2063851" y="1719072"/>
            <a:ext cx="12701" cy="3931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6"/>
          <p:cNvSpPr txBox="1"/>
          <p:nvPr/>
        </p:nvSpPr>
        <p:spPr>
          <a:xfrm>
            <a:off x="2221991" y="1719833"/>
            <a:ext cx="64008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Create nodes: state · forgetfulness · naivety · credibility · insider?</a:t>
            </a:r>
          </a:p>
          <a:p>
            <a: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Watts-Strogatz ring lattice + rewiring</a:t>
            </a:r>
          </a:p>
        </p:txBody>
      </p:sp>
      <p:sp>
        <p:nvSpPr>
          <p:cNvPr id="88" name="Text 7"/>
          <p:cNvSpPr txBox="1"/>
          <p:nvPr/>
        </p:nvSpPr>
        <p:spPr>
          <a:xfrm>
            <a:off x="704087" y="2334097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</a:t>
            </a:r>
          </a:p>
        </p:txBody>
      </p:sp>
      <p:sp>
        <p:nvSpPr>
          <p:cNvPr id="89" name="Shape 8"/>
          <p:cNvSpPr/>
          <p:nvPr/>
        </p:nvSpPr>
        <p:spPr>
          <a:xfrm>
            <a:off x="2063851" y="2258567"/>
            <a:ext cx="12701" cy="3931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9"/>
          <p:cNvSpPr txBox="1"/>
          <p:nvPr/>
        </p:nvSpPr>
        <p:spPr>
          <a:xfrm>
            <a:off x="2221991" y="2335529"/>
            <a:ext cx="640080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Each tick:  spread-rumor  →  change-state  →  tick</a:t>
            </a:r>
          </a:p>
        </p:txBody>
      </p:sp>
      <p:sp>
        <p:nvSpPr>
          <p:cNvPr id="91" name="Shape 10"/>
          <p:cNvSpPr/>
          <p:nvPr/>
        </p:nvSpPr>
        <p:spPr>
          <a:xfrm>
            <a:off x="548640" y="2743200"/>
            <a:ext cx="8229601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1"/>
          <p:cNvSpPr txBox="1"/>
          <p:nvPr/>
        </p:nvSpPr>
        <p:spPr>
          <a:xfrm>
            <a:off x="704087" y="2873593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SPREAD RUMOR</a:t>
            </a:r>
          </a:p>
        </p:txBody>
      </p:sp>
      <p:sp>
        <p:nvSpPr>
          <p:cNvPr id="93" name="Shape 12"/>
          <p:cNvSpPr/>
          <p:nvPr/>
        </p:nvSpPr>
        <p:spPr>
          <a:xfrm>
            <a:off x="2063851" y="2798064"/>
            <a:ext cx="12701" cy="3931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3"/>
          <p:cNvSpPr txBox="1"/>
          <p:nvPr/>
        </p:nvSpPr>
        <p:spPr>
          <a:xfrm>
            <a:off x="2221991" y="2798825"/>
            <a:ext cx="64008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Watcher: draw p &gt; function(bank liquidity) (inversely correlated to banks liquidity)</a:t>
            </a:r>
            <a:br/>
            <a:r>
              <a:t> →  set state = ‚withdraw' </a:t>
            </a:r>
          </a:p>
        </p:txBody>
      </p:sp>
      <p:sp>
        <p:nvSpPr>
          <p:cNvPr id="95" name="Text 14"/>
          <p:cNvSpPr txBox="1"/>
          <p:nvPr/>
        </p:nvSpPr>
        <p:spPr>
          <a:xfrm>
            <a:off x="704087" y="341308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CHANGE STATE</a:t>
            </a:r>
          </a:p>
        </p:txBody>
      </p:sp>
      <p:sp>
        <p:nvSpPr>
          <p:cNvPr id="96" name="Shape 15"/>
          <p:cNvSpPr/>
          <p:nvPr/>
        </p:nvSpPr>
        <p:spPr>
          <a:xfrm>
            <a:off x="2063851" y="3337559"/>
            <a:ext cx="12701" cy="3931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6"/>
          <p:cNvSpPr txBox="1"/>
          <p:nvPr/>
        </p:nvSpPr>
        <p:spPr>
          <a:xfrm>
            <a:off x="2221991" y="3338321"/>
            <a:ext cx="64008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Change State function: avg = Σ(signal × credibility) / n</a:t>
            </a:r>
          </a:p>
          <a:p>
            <a: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else: forgetfulness may revert state</a:t>
            </a:r>
          </a:p>
        </p:txBody>
      </p:sp>
      <p:sp>
        <p:nvSpPr>
          <p:cNvPr id="98" name="Shape 17"/>
          <p:cNvSpPr/>
          <p:nvPr/>
        </p:nvSpPr>
        <p:spPr>
          <a:xfrm>
            <a:off x="548640" y="3822191"/>
            <a:ext cx="8229601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8"/>
          <p:cNvSpPr txBox="1"/>
          <p:nvPr/>
        </p:nvSpPr>
        <p:spPr>
          <a:xfrm>
            <a:off x="704087" y="3952585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UPDATE BANK</a:t>
            </a:r>
          </a:p>
        </p:txBody>
      </p:sp>
      <p:sp>
        <p:nvSpPr>
          <p:cNvPr id="100" name="Shape 19"/>
          <p:cNvSpPr/>
          <p:nvPr/>
        </p:nvSpPr>
        <p:spPr>
          <a:xfrm>
            <a:off x="2063851" y="3877055"/>
            <a:ext cx="12701" cy="3931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20"/>
          <p:cNvSpPr txBox="1"/>
          <p:nvPr/>
        </p:nvSpPr>
        <p:spPr>
          <a:xfrm>
            <a:off x="2221991" y="3954017"/>
            <a:ext cx="640080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withdrawals reduce reserve  ·  if reserve &lt; 0 → bank collapses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Bildschirmfoto 2026-06-17 um 11.00.58.png" descr="Bildschirmfoto 2026-06-17 um 11.00.5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11883" y="2188902"/>
            <a:ext cx="2140291" cy="2484459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  Implementation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594359" y="962334"/>
            <a:ext cx="7223761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Signaling Function of Bank to Watchers</a:t>
            </a:r>
          </a:p>
        </p:txBody>
      </p:sp>
      <p:sp>
        <p:nvSpPr>
          <p:cNvPr id="107" name="signal-function s(% liquide assets of total assets)"/>
          <p:cNvSpPr txBox="1"/>
          <p:nvPr/>
        </p:nvSpPr>
        <p:spPr>
          <a:xfrm>
            <a:off x="2489466" y="1677460"/>
            <a:ext cx="3079736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signal-function s(% liquide assets of total assets)</a:t>
            </a:r>
          </a:p>
        </p:txBody>
      </p:sp>
      <p:sp>
        <p:nvSpPr>
          <p:cNvPr id="108" name="Gleichung"/>
          <p:cNvSpPr txBox="1"/>
          <p:nvPr/>
        </p:nvSpPr>
        <p:spPr>
          <a:xfrm>
            <a:off x="5519369" y="4286284"/>
            <a:ext cx="966175" cy="30049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f>
                    <m:fPr>
                      <m:ctrlP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num>
                    <m:den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den>
                  </m:f>
                </m:oMath>
              </m:oMathPara>
            </a14:m>
            <a:endParaRPr sz="1100"/>
          </a:p>
        </p:txBody>
      </p:sp>
      <p:sp>
        <p:nvSpPr>
          <p:cNvPr id="109" name="Gleichung"/>
          <p:cNvSpPr txBox="1"/>
          <p:nvPr/>
        </p:nvSpPr>
        <p:spPr>
          <a:xfrm>
            <a:off x="1477831" y="2187951"/>
            <a:ext cx="1566856" cy="16935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w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1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</m:oMath>
              </m:oMathPara>
            </a14:m>
            <a:endParaRPr sz="1500"/>
          </a:p>
        </p:txBody>
      </p:sp>
      <p:sp>
        <p:nvSpPr>
          <p:cNvPr id="110" name="Text"/>
          <p:cNvSpPr txBox="1"/>
          <p:nvPr/>
        </p:nvSpPr>
        <p:spPr>
          <a:xfrm>
            <a:off x="3715273" y="2522921"/>
            <a:ext cx="455820" cy="359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C95D5A"/>
                </a:solidFill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950" i="1">
                      <a:solidFill>
                        <a:srgbClr val="C85D59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1950" i="1">
                      <a:solidFill>
                        <a:srgbClr val="C85D59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950" i="1">
                      <a:solidFill>
                        <a:srgbClr val="C85D59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1950" i="1">
                      <a:solidFill>
                        <a:srgbClr val="C85D59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  LITERATUR</a:t>
            </a:r>
          </a:p>
        </p:txBody>
      </p:sp>
      <p:sp>
        <p:nvSpPr>
          <p:cNvPr id="114" name="Text 2"/>
          <p:cNvSpPr txBox="1"/>
          <p:nvPr/>
        </p:nvSpPr>
        <p:spPr>
          <a:xfrm>
            <a:off x="594359" y="906638"/>
            <a:ext cx="72237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Literature Review</a:t>
            </a:r>
          </a:p>
        </p:txBody>
      </p:sp>
      <p:sp>
        <p:nvSpPr>
          <p:cNvPr id="115" name="Shape 3"/>
          <p:cNvSpPr/>
          <p:nvPr/>
        </p:nvSpPr>
        <p:spPr>
          <a:xfrm>
            <a:off x="4642459" y="1664207"/>
            <a:ext cx="12701" cy="181051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4"/>
          <p:cNvSpPr/>
          <p:nvPr/>
        </p:nvSpPr>
        <p:spPr>
          <a:xfrm>
            <a:off x="548640" y="1664207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5"/>
          <p:cNvSpPr txBox="1"/>
          <p:nvPr/>
        </p:nvSpPr>
        <p:spPr>
          <a:xfrm>
            <a:off x="594359" y="1678731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Diamond &amp; Dybvig (1983)</a:t>
            </a:r>
          </a:p>
        </p:txBody>
      </p:sp>
      <p:sp>
        <p:nvSpPr>
          <p:cNvPr id="118" name="Text 6"/>
          <p:cNvSpPr txBox="1"/>
          <p:nvPr/>
        </p:nvSpPr>
        <p:spPr>
          <a:xfrm>
            <a:off x="594359" y="1852467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Runs, Deposit Insurance, and Liquidity</a:t>
            </a:r>
          </a:p>
        </p:txBody>
      </p:sp>
      <p:sp>
        <p:nvSpPr>
          <p:cNvPr id="119" name="Text 7"/>
          <p:cNvSpPr txBox="1"/>
          <p:nvPr/>
        </p:nvSpPr>
        <p:spPr>
          <a:xfrm>
            <a:off x="594359" y="2023201"/>
            <a:ext cx="391363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Foundation: self-fulfilling panic vs. fundamental runs</a:t>
            </a:r>
          </a:p>
        </p:txBody>
      </p:sp>
      <p:sp>
        <p:nvSpPr>
          <p:cNvPr id="120" name="Shape 8"/>
          <p:cNvSpPr/>
          <p:nvPr/>
        </p:nvSpPr>
        <p:spPr>
          <a:xfrm>
            <a:off x="4754879" y="1664207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9"/>
          <p:cNvSpPr txBox="1"/>
          <p:nvPr/>
        </p:nvSpPr>
        <p:spPr>
          <a:xfrm>
            <a:off x="4800600" y="1678731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Deng et al.</a:t>
            </a:r>
          </a:p>
        </p:txBody>
      </p:sp>
      <p:sp>
        <p:nvSpPr>
          <p:cNvPr id="122" name="Text 10"/>
          <p:cNvSpPr txBox="1"/>
          <p:nvPr/>
        </p:nvSpPr>
        <p:spPr>
          <a:xfrm>
            <a:off x="4800600" y="1852467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Runs in a Local Interaction Model</a:t>
            </a:r>
          </a:p>
        </p:txBody>
      </p:sp>
      <p:sp>
        <p:nvSpPr>
          <p:cNvPr id="123" name="Text 11"/>
          <p:cNvSpPr txBox="1"/>
          <p:nvPr/>
        </p:nvSpPr>
        <p:spPr>
          <a:xfrm>
            <a:off x="4800600" y="2023201"/>
            <a:ext cx="391363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Spatial contagion → motivation for network topology</a:t>
            </a:r>
          </a:p>
        </p:txBody>
      </p:sp>
      <p:sp>
        <p:nvSpPr>
          <p:cNvPr id="124" name="Shape 12"/>
          <p:cNvSpPr/>
          <p:nvPr/>
        </p:nvSpPr>
        <p:spPr>
          <a:xfrm>
            <a:off x="548640" y="2267711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3"/>
          <p:cNvSpPr txBox="1"/>
          <p:nvPr/>
        </p:nvSpPr>
        <p:spPr>
          <a:xfrm>
            <a:off x="594359" y="2282235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Elias</a:t>
            </a:r>
          </a:p>
        </p:txBody>
      </p:sp>
      <p:sp>
        <p:nvSpPr>
          <p:cNvPr id="126" name="Text 14"/>
          <p:cNvSpPr txBox="1"/>
          <p:nvPr/>
        </p:nvSpPr>
        <p:spPr>
          <a:xfrm>
            <a:off x="594359" y="2455971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Runs via Social Networks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594359" y="2626705"/>
            <a:ext cx="391363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Direct predecessor; social-link structure</a:t>
            </a:r>
          </a:p>
        </p:txBody>
      </p:sp>
      <p:sp>
        <p:nvSpPr>
          <p:cNvPr id="128" name="Shape 16"/>
          <p:cNvSpPr/>
          <p:nvPr/>
        </p:nvSpPr>
        <p:spPr>
          <a:xfrm>
            <a:off x="4754879" y="2267711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7"/>
          <p:cNvSpPr txBox="1"/>
          <p:nvPr/>
        </p:nvSpPr>
        <p:spPr>
          <a:xfrm>
            <a:off x="4800600" y="2282235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Ruano &amp; Rajan</a:t>
            </a:r>
          </a:p>
        </p:txBody>
      </p:sp>
      <p:sp>
        <p:nvSpPr>
          <p:cNvPr id="130" name="Text 18"/>
          <p:cNvSpPr txBox="1"/>
          <p:nvPr/>
        </p:nvSpPr>
        <p:spPr>
          <a:xfrm>
            <a:off x="4800600" y="2455971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Social Contagion &amp; Bank Runs with LLM Depositors</a:t>
            </a:r>
          </a:p>
        </p:txBody>
      </p:sp>
      <p:sp>
        <p:nvSpPr>
          <p:cNvPr id="131" name="Text 19"/>
          <p:cNvSpPr txBox="1"/>
          <p:nvPr/>
        </p:nvSpPr>
        <p:spPr>
          <a:xfrm>
            <a:off x="4800600" y="2626705"/>
            <a:ext cx="391363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LLM depositors; most recent</a:t>
            </a:r>
          </a:p>
        </p:txBody>
      </p:sp>
      <p:sp>
        <p:nvSpPr>
          <p:cNvPr id="132" name="Shape 20"/>
          <p:cNvSpPr/>
          <p:nvPr/>
        </p:nvSpPr>
        <p:spPr>
          <a:xfrm>
            <a:off x="548640" y="2871216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1"/>
          <p:cNvSpPr txBox="1"/>
          <p:nvPr/>
        </p:nvSpPr>
        <p:spPr>
          <a:xfrm>
            <a:off x="594359" y="2885739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Santos &amp; Nakane</a:t>
            </a:r>
          </a:p>
        </p:txBody>
      </p:sp>
      <p:sp>
        <p:nvSpPr>
          <p:cNvPr id="134" name="Text 22"/>
          <p:cNvSpPr txBox="1"/>
          <p:nvPr/>
        </p:nvSpPr>
        <p:spPr>
          <a:xfrm>
            <a:off x="594359" y="3059475"/>
            <a:ext cx="391363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Bank Runs: An Agent-Based Approach</a:t>
            </a:r>
          </a:p>
        </p:txBody>
      </p:sp>
      <p:sp>
        <p:nvSpPr>
          <p:cNvPr id="135" name="Text 23"/>
          <p:cNvSpPr txBox="1"/>
          <p:nvPr/>
        </p:nvSpPr>
        <p:spPr>
          <a:xfrm>
            <a:off x="594359" y="3230209"/>
            <a:ext cx="391363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ABM + balance sheet → our core extension</a:t>
            </a:r>
          </a:p>
        </p:txBody>
      </p:sp>
      <p:sp>
        <p:nvSpPr>
          <p:cNvPr id="136" name="Shape 24"/>
          <p:cNvSpPr/>
          <p:nvPr/>
        </p:nvSpPr>
        <p:spPr>
          <a:xfrm>
            <a:off x="4754879" y="2871216"/>
            <a:ext cx="4005072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25"/>
          <p:cNvSpPr txBox="1"/>
          <p:nvPr/>
        </p:nvSpPr>
        <p:spPr>
          <a:xfrm>
            <a:off x="4800600" y="2885739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Huang &amp; Huang</a:t>
            </a:r>
          </a:p>
        </p:txBody>
      </p:sp>
      <p:sp>
        <p:nvSpPr>
          <p:cNvPr id="138" name="Text 26"/>
          <p:cNvSpPr txBox="1"/>
          <p:nvPr/>
        </p:nvSpPr>
        <p:spPr>
          <a:xfrm>
            <a:off x="4800600" y="3059475"/>
            <a:ext cx="391363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Connectionist Agent-Based Learning in Bank-Run Decision Making</a:t>
            </a:r>
          </a:p>
        </p:txBody>
      </p:sp>
      <p:sp>
        <p:nvSpPr>
          <p:cNvPr id="139" name="Text 27"/>
          <p:cNvSpPr txBox="1"/>
          <p:nvPr/>
        </p:nvSpPr>
        <p:spPr>
          <a:xfrm>
            <a:off x="4800600" y="3230209"/>
            <a:ext cx="391363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agents; behavioural heterogeneity</a:t>
            </a:r>
          </a:p>
        </p:txBody>
      </p:sp>
      <p:sp>
        <p:nvSpPr>
          <p:cNvPr id="140" name="Shape 28"/>
          <p:cNvSpPr/>
          <p:nvPr/>
        </p:nvSpPr>
        <p:spPr>
          <a:xfrm>
            <a:off x="548640" y="3474720"/>
            <a:ext cx="8046719" cy="1"/>
          </a:xfrm>
          <a:prstGeom prst="line">
            <a:avLst/>
          </a:prstGeom>
          <a:ln w="635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  MODELL-SETUP</a:t>
            </a:r>
          </a:p>
        </p:txBody>
      </p:sp>
      <p:sp>
        <p:nvSpPr>
          <p:cNvPr id="144" name="Text 2"/>
          <p:cNvSpPr txBox="1"/>
          <p:nvPr/>
        </p:nvSpPr>
        <p:spPr>
          <a:xfrm>
            <a:off x="594359" y="906638"/>
            <a:ext cx="72237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Story</a:t>
            </a:r>
          </a:p>
        </p:txBody>
      </p:sp>
      <p:pic>
        <p:nvPicPr>
          <p:cNvPr id="145" name="ABM bankrun.pdf" descr="ABM bankrun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86944" y="1014845"/>
            <a:ext cx="5184716" cy="3848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548640" y="475487"/>
            <a:ext cx="8046719" cy="36577"/>
          </a:xfrm>
          <a:prstGeom prst="rect">
            <a:avLst/>
          </a:prstGeom>
          <a:solidFill>
            <a:srgbClr val="D63B1F"/>
          </a:solidFill>
          <a:ln w="12700">
            <a:solidFill>
              <a:srgbClr val="D63B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"/>
          <p:cNvSpPr txBox="1"/>
          <p:nvPr/>
        </p:nvSpPr>
        <p:spPr>
          <a:xfrm>
            <a:off x="594360" y="607451"/>
            <a:ext cx="7955279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  FORTSCHRITT</a:t>
            </a:r>
          </a:p>
        </p:txBody>
      </p:sp>
      <p:sp>
        <p:nvSpPr>
          <p:cNvPr id="149" name="Text 2"/>
          <p:cNvSpPr txBox="1"/>
          <p:nvPr/>
        </p:nvSpPr>
        <p:spPr>
          <a:xfrm>
            <a:off x="594360" y="906638"/>
            <a:ext cx="7955279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Implementation Timeline</a:t>
            </a:r>
          </a:p>
        </p:txBody>
      </p:sp>
      <p:sp>
        <p:nvSpPr>
          <p:cNvPr id="150" name="Shape 4"/>
          <p:cNvSpPr/>
          <p:nvPr/>
        </p:nvSpPr>
        <p:spPr>
          <a:xfrm>
            <a:off x="640079" y="2926079"/>
            <a:ext cx="7955282" cy="1"/>
          </a:xfrm>
          <a:prstGeom prst="line">
            <a:avLst/>
          </a:prstGeom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5"/>
          <p:cNvSpPr/>
          <p:nvPr/>
        </p:nvSpPr>
        <p:spPr>
          <a:xfrm>
            <a:off x="640079" y="2926079"/>
            <a:ext cx="3471759" cy="1"/>
          </a:xfrm>
          <a:prstGeom prst="line">
            <a:avLst/>
          </a:prstGeom>
          <a:ln w="1905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7"/>
          <p:cNvSpPr/>
          <p:nvPr/>
        </p:nvSpPr>
        <p:spPr>
          <a:xfrm>
            <a:off x="633729" y="2999232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8"/>
          <p:cNvSpPr txBox="1"/>
          <p:nvPr/>
        </p:nvSpPr>
        <p:spPr>
          <a:xfrm>
            <a:off x="484631" y="3161167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4" name="Text 9"/>
          <p:cNvSpPr txBox="1"/>
          <p:nvPr/>
        </p:nvSpPr>
        <p:spPr>
          <a:xfrm>
            <a:off x="228600" y="3332779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Literatur</a:t>
            </a:r>
          </a:p>
        </p:txBody>
      </p:sp>
      <p:sp>
        <p:nvSpPr>
          <p:cNvPr id="155" name="Shape 11"/>
          <p:cNvSpPr/>
          <p:nvPr/>
        </p:nvSpPr>
        <p:spPr>
          <a:xfrm>
            <a:off x="1628139" y="2638642"/>
            <a:ext cx="12701" cy="21428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2"/>
          <p:cNvSpPr txBox="1"/>
          <p:nvPr/>
        </p:nvSpPr>
        <p:spPr>
          <a:xfrm>
            <a:off x="1479041" y="2166503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7" name="Text 13"/>
          <p:cNvSpPr txBox="1"/>
          <p:nvPr/>
        </p:nvSpPr>
        <p:spPr>
          <a:xfrm>
            <a:off x="1223009" y="2401615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Network</a:t>
            </a:r>
          </a:p>
        </p:txBody>
      </p:sp>
      <p:sp>
        <p:nvSpPr>
          <p:cNvPr id="158" name="Shape 15"/>
          <p:cNvSpPr/>
          <p:nvPr/>
        </p:nvSpPr>
        <p:spPr>
          <a:xfrm>
            <a:off x="2622549" y="2999232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6"/>
          <p:cNvSpPr txBox="1"/>
          <p:nvPr/>
        </p:nvSpPr>
        <p:spPr>
          <a:xfrm>
            <a:off x="2473452" y="3161167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0" name="Text 17"/>
          <p:cNvSpPr txBox="1"/>
          <p:nvPr/>
        </p:nvSpPr>
        <p:spPr>
          <a:xfrm>
            <a:off x="2217420" y="3358179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States</a:t>
            </a:r>
          </a:p>
        </p:txBody>
      </p:sp>
      <p:sp>
        <p:nvSpPr>
          <p:cNvPr id="161" name="Shape 19"/>
          <p:cNvSpPr/>
          <p:nvPr/>
        </p:nvSpPr>
        <p:spPr>
          <a:xfrm>
            <a:off x="3616959" y="2638642"/>
            <a:ext cx="12702" cy="21428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20"/>
          <p:cNvSpPr txBox="1"/>
          <p:nvPr/>
        </p:nvSpPr>
        <p:spPr>
          <a:xfrm>
            <a:off x="3467861" y="2166503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D63B1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3" name="Text 21"/>
          <p:cNvSpPr txBox="1"/>
          <p:nvPr/>
        </p:nvSpPr>
        <p:spPr>
          <a:xfrm>
            <a:off x="3211830" y="2401615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Insider Logic</a:t>
            </a:r>
          </a:p>
        </p:txBody>
      </p:sp>
      <p:sp>
        <p:nvSpPr>
          <p:cNvPr id="164" name="Shape 23"/>
          <p:cNvSpPr/>
          <p:nvPr/>
        </p:nvSpPr>
        <p:spPr>
          <a:xfrm>
            <a:off x="4611369" y="2999232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24"/>
          <p:cNvSpPr txBox="1"/>
          <p:nvPr/>
        </p:nvSpPr>
        <p:spPr>
          <a:xfrm>
            <a:off x="4462272" y="3161167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6" name="Text 25"/>
          <p:cNvSpPr txBox="1"/>
          <p:nvPr/>
        </p:nvSpPr>
        <p:spPr>
          <a:xfrm>
            <a:off x="4078223" y="3358179"/>
            <a:ext cx="1078994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Balance</a:t>
            </a:r>
          </a:p>
        </p:txBody>
      </p:sp>
      <p:sp>
        <p:nvSpPr>
          <p:cNvPr id="167" name="Shape 27"/>
          <p:cNvSpPr/>
          <p:nvPr/>
        </p:nvSpPr>
        <p:spPr>
          <a:xfrm>
            <a:off x="5605779" y="2688335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8"/>
          <p:cNvSpPr txBox="1"/>
          <p:nvPr/>
        </p:nvSpPr>
        <p:spPr>
          <a:xfrm>
            <a:off x="5456682" y="2166503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9" name="Text 29"/>
          <p:cNvSpPr txBox="1"/>
          <p:nvPr/>
        </p:nvSpPr>
        <p:spPr>
          <a:xfrm>
            <a:off x="5200650" y="2331765"/>
            <a:ext cx="822961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 Loop</a:t>
            </a:r>
          </a:p>
        </p:txBody>
      </p:sp>
      <p:sp>
        <p:nvSpPr>
          <p:cNvPr id="170" name="Shape 31"/>
          <p:cNvSpPr/>
          <p:nvPr/>
        </p:nvSpPr>
        <p:spPr>
          <a:xfrm>
            <a:off x="6600189" y="2999232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32"/>
          <p:cNvSpPr txBox="1"/>
          <p:nvPr/>
        </p:nvSpPr>
        <p:spPr>
          <a:xfrm>
            <a:off x="6451091" y="3161167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2" name="Text 33"/>
          <p:cNvSpPr txBox="1"/>
          <p:nvPr/>
        </p:nvSpPr>
        <p:spPr>
          <a:xfrm>
            <a:off x="6195060" y="3332779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Plotting</a:t>
            </a:r>
          </a:p>
        </p:txBody>
      </p:sp>
      <p:sp>
        <p:nvSpPr>
          <p:cNvPr id="173" name="Shape 35"/>
          <p:cNvSpPr/>
          <p:nvPr/>
        </p:nvSpPr>
        <p:spPr>
          <a:xfrm>
            <a:off x="7594599" y="2688335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36"/>
          <p:cNvSpPr txBox="1"/>
          <p:nvPr/>
        </p:nvSpPr>
        <p:spPr>
          <a:xfrm>
            <a:off x="7445501" y="2166503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5" name="Text 37"/>
          <p:cNvSpPr txBox="1"/>
          <p:nvPr/>
        </p:nvSpPr>
        <p:spPr>
          <a:xfrm>
            <a:off x="7189469" y="2401615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Click Shocks</a:t>
            </a:r>
          </a:p>
        </p:txBody>
      </p:sp>
      <p:sp>
        <p:nvSpPr>
          <p:cNvPr id="176" name="Shape 39"/>
          <p:cNvSpPr/>
          <p:nvPr/>
        </p:nvSpPr>
        <p:spPr>
          <a:xfrm>
            <a:off x="8589009" y="2999232"/>
            <a:ext cx="12701" cy="164593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40"/>
          <p:cNvSpPr txBox="1"/>
          <p:nvPr/>
        </p:nvSpPr>
        <p:spPr>
          <a:xfrm>
            <a:off x="8439911" y="3161167"/>
            <a:ext cx="310897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78" name="Text 41"/>
          <p:cNvSpPr txBox="1"/>
          <p:nvPr/>
        </p:nvSpPr>
        <p:spPr>
          <a:xfrm>
            <a:off x="8183879" y="3332779"/>
            <a:ext cx="822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Extensions</a:t>
            </a:r>
          </a:p>
        </p:txBody>
      </p:sp>
      <p:sp>
        <p:nvSpPr>
          <p:cNvPr id="179" name="Shape 14"/>
          <p:cNvSpPr/>
          <p:nvPr/>
        </p:nvSpPr>
        <p:spPr>
          <a:xfrm>
            <a:off x="2555748" y="2852927"/>
            <a:ext cx="146305" cy="146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6"/>
          <p:cNvSpPr/>
          <p:nvPr/>
        </p:nvSpPr>
        <p:spPr>
          <a:xfrm>
            <a:off x="566927" y="2852927"/>
            <a:ext cx="146305" cy="146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Shape 22"/>
          <p:cNvSpPr/>
          <p:nvPr/>
        </p:nvSpPr>
        <p:spPr>
          <a:xfrm>
            <a:off x="4544567" y="2852927"/>
            <a:ext cx="146305" cy="146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26"/>
          <p:cNvSpPr/>
          <p:nvPr/>
        </p:nvSpPr>
        <p:spPr>
          <a:xfrm>
            <a:off x="5538978" y="2852927"/>
            <a:ext cx="146305" cy="146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10"/>
          <p:cNvSpPr/>
          <p:nvPr/>
        </p:nvSpPr>
        <p:spPr>
          <a:xfrm>
            <a:off x="1561338" y="2852927"/>
            <a:ext cx="146305" cy="146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18"/>
          <p:cNvSpPr/>
          <p:nvPr/>
        </p:nvSpPr>
        <p:spPr>
          <a:xfrm>
            <a:off x="3550158" y="2852927"/>
            <a:ext cx="146305" cy="146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34"/>
          <p:cNvSpPr/>
          <p:nvPr/>
        </p:nvSpPr>
        <p:spPr>
          <a:xfrm>
            <a:off x="7527797" y="2852927"/>
            <a:ext cx="146305" cy="146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38"/>
          <p:cNvSpPr/>
          <p:nvPr/>
        </p:nvSpPr>
        <p:spPr>
          <a:xfrm>
            <a:off x="8522207" y="2852927"/>
            <a:ext cx="146305" cy="146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30"/>
          <p:cNvSpPr/>
          <p:nvPr/>
        </p:nvSpPr>
        <p:spPr>
          <a:xfrm>
            <a:off x="6533388" y="2852927"/>
            <a:ext cx="146305" cy="1463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